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73" r:id="rId6"/>
    <p:sldId id="261" r:id="rId7"/>
    <p:sldId id="262" r:id="rId8"/>
    <p:sldId id="272" r:id="rId9"/>
    <p:sldId id="263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C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4610"/>
  </p:normalViewPr>
  <p:slideViewPr>
    <p:cSldViewPr snapToGrid="0" snapToObjects="1">
      <p:cViewPr>
        <p:scale>
          <a:sx n="120" d="100"/>
          <a:sy n="120" d="100"/>
        </p:scale>
        <p:origin x="7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0719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1" name="Google Shape;341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5.png"/><Relationship Id="rId4" Type="http://schemas.openxmlformats.org/officeDocument/2006/relationships/image" Target="../media/image6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38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83.png"/><Relationship Id="rId10" Type="http://schemas.openxmlformats.org/officeDocument/2006/relationships/image" Target="../media/image87.png"/><Relationship Id="rId4" Type="http://schemas.openxmlformats.org/officeDocument/2006/relationships/image" Target="../media/image82.png"/><Relationship Id="rId9" Type="http://schemas.openxmlformats.org/officeDocument/2006/relationships/image" Target="../media/image8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0438" y="213420"/>
            <a:ext cx="2143125" cy="14287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002650" y="1927920"/>
            <a:ext cx="5138700" cy="1246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294" b="1" kern="0" spc="2" dirty="0">
                <a:solidFill>
                  <a:srgbClr val="FFFFFF"/>
                </a:solidFill>
              </a:rPr>
              <a:t>Disney+ Content
Analytics Pipeline</a:t>
            </a:r>
            <a:endParaRPr lang="en-US" sz="3294" dirty="0"/>
          </a:p>
        </p:txBody>
      </p:sp>
      <p:sp>
        <p:nvSpPr>
          <p:cNvPr id="5" name="Text 1"/>
          <p:cNvSpPr/>
          <p:nvPr/>
        </p:nvSpPr>
        <p:spPr>
          <a:xfrm>
            <a:off x="1942347" y="3703141"/>
            <a:ext cx="5259307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4" kern="0" spc="1" dirty="0">
                <a:solidFill>
                  <a:srgbClr val="4B9CD3"/>
                </a:solidFill>
              </a:rPr>
              <a:t>AI-Powered Data Engineering Implementation</a:t>
            </a:r>
            <a:endParaRPr lang="en-US" sz="1704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6163" y="4587180"/>
            <a:ext cx="342900" cy="34290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7688" y="4587180"/>
            <a:ext cx="428625" cy="34290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4938" y="4587180"/>
            <a:ext cx="342900" cy="34290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7515226" y="4455117"/>
            <a:ext cx="775918" cy="6070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FFFFFF">
                    <a:alpha val="70000"/>
                  </a:srgbClr>
                </a:solidFill>
              </a:rPr>
              <a:t>Team Members:</a:t>
            </a:r>
            <a:br>
              <a:rPr lang="en-US" sz="885" b="1" kern="0" spc="1" dirty="0">
                <a:solidFill>
                  <a:srgbClr val="FFFFFF">
                    <a:alpha val="70000"/>
                  </a:srgbClr>
                </a:solidFill>
              </a:rPr>
            </a:br>
            <a:r>
              <a:rPr lang="en-US" sz="885" b="1" kern="0" spc="1" dirty="0">
                <a:solidFill>
                  <a:srgbClr val="FFFFFF">
                    <a:alpha val="70000"/>
                  </a:srgbClr>
                </a:solidFill>
              </a:rPr>
              <a:t>Bhagya Puppala</a:t>
            </a:r>
            <a:br>
              <a:rPr lang="en-US" sz="885" b="1" kern="0" spc="1" dirty="0">
                <a:solidFill>
                  <a:srgbClr val="FFFFFF">
                    <a:alpha val="70000"/>
                  </a:srgbClr>
                </a:solidFill>
              </a:rPr>
            </a:br>
            <a:r>
              <a:rPr lang="en-US" sz="885" b="1" kern="0" spc="1" dirty="0">
                <a:solidFill>
                  <a:srgbClr val="FFFFFF">
                    <a:alpha val="70000"/>
                  </a:srgbClr>
                </a:solidFill>
              </a:rPr>
              <a:t>Janani </a:t>
            </a:r>
            <a:r>
              <a:rPr lang="en-US" sz="885" b="1" kern="0" spc="1" dirty="0" err="1">
                <a:solidFill>
                  <a:srgbClr val="FFFFFF">
                    <a:alpha val="70000"/>
                  </a:srgbClr>
                </a:solidFill>
              </a:rPr>
              <a:t>Vakkanti</a:t>
            </a:r>
            <a:br>
              <a:rPr lang="en-US" sz="885" b="1" kern="0" spc="1" dirty="0">
                <a:solidFill>
                  <a:srgbClr val="FFFFFF">
                    <a:alpha val="70000"/>
                  </a:srgbClr>
                </a:solidFill>
              </a:rPr>
            </a:br>
            <a:r>
              <a:rPr lang="en-US" sz="885" b="1" kern="0" spc="1" dirty="0">
                <a:solidFill>
                  <a:srgbClr val="FFFFFF">
                    <a:alpha val="70000"/>
                  </a:srgbClr>
                </a:solidFill>
              </a:rPr>
              <a:t>Shriya Tarun</a:t>
            </a:r>
            <a:endParaRPr lang="en-US" sz="88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4B9CD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90240"/>
            <a:ext cx="385763" cy="342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00138" y="428625"/>
            <a:ext cx="4826664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Three-Layer Data Pipeline</a:t>
            </a:r>
            <a:endParaRPr lang="en-US" sz="2436" dirty="0"/>
          </a:p>
        </p:txBody>
      </p:sp>
      <p:sp>
        <p:nvSpPr>
          <p:cNvPr id="7" name="Shape 3"/>
          <p:cNvSpPr/>
          <p:nvPr/>
        </p:nvSpPr>
        <p:spPr>
          <a:xfrm>
            <a:off x="571500" y="1466255"/>
            <a:ext cx="2143125" cy="3214688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1257300" y="1680567"/>
            <a:ext cx="771525" cy="771525"/>
          </a:xfrm>
          <a:prstGeom prst="ellipse">
            <a:avLst/>
          </a:prstGeom>
          <a:solidFill>
            <a:srgbClr val="8C5A2B"/>
          </a:solidFill>
          <a:ln w="27432">
            <a:solidFill>
              <a:srgbClr val="CD7F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8047" y="1894880"/>
            <a:ext cx="250031" cy="285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836" y="2537817"/>
            <a:ext cx="81645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B9CD3"/>
                </a:solidFill>
              </a:rPr>
              <a:t>Raw Data</a:t>
            </a:r>
            <a:endParaRPr lang="en-US" sz="1193" dirty="0"/>
          </a:p>
        </p:txBody>
      </p:sp>
      <p:sp>
        <p:nvSpPr>
          <p:cNvPr id="11" name="Text 6"/>
          <p:cNvSpPr/>
          <p:nvPr/>
        </p:nvSpPr>
        <p:spPr>
          <a:xfrm>
            <a:off x="1197387" y="2843213"/>
            <a:ext cx="89132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kern="0" spc="1" dirty="0">
                <a:solidFill>
                  <a:srgbClr val="FFFFFF">
                    <a:alpha val="70000"/>
                  </a:srgbClr>
                </a:solidFill>
              </a:rPr>
              <a:t>Bronze Layer</a:t>
            </a:r>
            <a:endParaRPr lang="en-US" sz="834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3205758"/>
            <a:ext cx="53578" cy="857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0828" y="3177183"/>
            <a:ext cx="158047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CSV Ingestion via </a:t>
            </a:r>
            <a:r>
              <a:rPr lang="en-US" sz="784" b="1" dirty="0">
                <a:solidFill>
                  <a:srgbClr val="FFFFFF"/>
                </a:solidFill>
              </a:rPr>
              <a:t>COPY INTO</a:t>
            </a:r>
            <a:endParaRPr lang="en-US" sz="834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813" y="3472923"/>
            <a:ext cx="53578" cy="8572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10828" y="3444348"/>
            <a:ext cx="158948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Stored Procedure: Data Cleaning &amp; AI Enrichment</a:t>
            </a:r>
            <a:endParaRPr lang="en-US" sz="834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5813" y="3900097"/>
            <a:ext cx="53578" cy="8572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10828" y="3871522"/>
            <a:ext cx="158948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Primary Key: </a:t>
            </a:r>
            <a:r>
              <a:rPr lang="en-US" sz="784" b="1" dirty="0">
                <a:solidFill>
                  <a:srgbClr val="FFFFFF"/>
                </a:solidFill>
              </a:rPr>
              <a:t>IMDB_ID</a:t>
            </a:r>
            <a:r>
              <a:rPr lang="en-US" sz="834" dirty="0">
                <a:solidFill>
                  <a:srgbClr val="FFFFFF"/>
                </a:solidFill>
              </a:rPr>
              <a:t> enforcement</a:t>
            </a:r>
            <a:endParaRPr lang="en-US" sz="834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28950" y="1966317"/>
            <a:ext cx="85725" cy="171450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3500438" y="1466255"/>
            <a:ext cx="2143125" cy="3214688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1"/>
          <p:cNvSpPr/>
          <p:nvPr/>
        </p:nvSpPr>
        <p:spPr>
          <a:xfrm>
            <a:off x="4186238" y="1680567"/>
            <a:ext cx="771525" cy="722300"/>
          </a:xfrm>
          <a:prstGeom prst="roundRect">
            <a:avLst/>
          </a:prstGeom>
          <a:solidFill>
            <a:srgbClr val="A0A0A0"/>
          </a:solidFill>
          <a:ln w="27432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29125" y="1894880"/>
            <a:ext cx="285750" cy="28575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3886088" y="2537817"/>
            <a:ext cx="137179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B9CD3"/>
                </a:solidFill>
              </a:rPr>
              <a:t>Structured Data</a:t>
            </a:r>
            <a:endParaRPr lang="en-US" sz="1193" dirty="0"/>
          </a:p>
        </p:txBody>
      </p:sp>
      <p:sp>
        <p:nvSpPr>
          <p:cNvPr id="23" name="Text 13"/>
          <p:cNvSpPr/>
          <p:nvPr/>
        </p:nvSpPr>
        <p:spPr>
          <a:xfrm>
            <a:off x="4170387" y="2843213"/>
            <a:ext cx="80319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kern="0" spc="1" dirty="0">
                <a:solidFill>
                  <a:srgbClr val="FFFFFF">
                    <a:alpha val="70000"/>
                  </a:srgbClr>
                </a:solidFill>
              </a:rPr>
              <a:t>Silver Layer</a:t>
            </a:r>
            <a:endParaRPr lang="en-US" sz="834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4750" y="3205758"/>
            <a:ext cx="53578" cy="85725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3839766" y="3177183"/>
            <a:ext cx="158948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Snowflake Streams</a:t>
            </a:r>
            <a:r>
              <a:rPr lang="en-US" sz="834" dirty="0">
                <a:solidFill>
                  <a:srgbClr val="FFFFFF"/>
                </a:solidFill>
              </a:rPr>
              <a:t> for incremental movement</a:t>
            </a:r>
            <a:endParaRPr lang="en-US" sz="784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14750" y="3632932"/>
            <a:ext cx="53578" cy="85725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3839766" y="3604357"/>
            <a:ext cx="158948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Stored Procedure: Snowflake Schema Creation</a:t>
            </a:r>
            <a:endParaRPr lang="en-US" sz="834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4750" y="4060106"/>
            <a:ext cx="53578" cy="85725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3839766" y="4031531"/>
            <a:ext cx="158948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Dimensions, Facts, Bridge Tables</a:t>
            </a:r>
            <a:endParaRPr lang="en-US" sz="834" dirty="0"/>
          </a:p>
        </p:txBody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57888" y="1966317"/>
            <a:ext cx="85725" cy="171450"/>
          </a:xfrm>
          <a:prstGeom prst="rect">
            <a:avLst/>
          </a:prstGeom>
        </p:spPr>
      </p:pic>
      <p:sp>
        <p:nvSpPr>
          <p:cNvPr id="31" name="Shape 17"/>
          <p:cNvSpPr/>
          <p:nvPr/>
        </p:nvSpPr>
        <p:spPr>
          <a:xfrm>
            <a:off x="6429375" y="1466255"/>
            <a:ext cx="2143125" cy="3214688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18"/>
          <p:cNvSpPr/>
          <p:nvPr/>
        </p:nvSpPr>
        <p:spPr>
          <a:xfrm>
            <a:off x="7115175" y="1680567"/>
            <a:ext cx="771525" cy="722300"/>
          </a:xfrm>
          <a:prstGeom prst="roundRect">
            <a:avLst/>
          </a:prstGeom>
          <a:solidFill>
            <a:srgbClr val="B8860B"/>
          </a:solidFill>
          <a:ln w="27432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40203" y="1894880"/>
            <a:ext cx="321469" cy="285750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6754946" y="2537817"/>
            <a:ext cx="149198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B9CD3"/>
                </a:solidFill>
              </a:rPr>
              <a:t>Business Insights</a:t>
            </a:r>
            <a:endParaRPr lang="en-US" sz="1193" dirty="0"/>
          </a:p>
        </p:txBody>
      </p:sp>
      <p:sp>
        <p:nvSpPr>
          <p:cNvPr id="35" name="Text 20"/>
          <p:cNvSpPr/>
          <p:nvPr/>
        </p:nvSpPr>
        <p:spPr>
          <a:xfrm>
            <a:off x="7129742" y="2843213"/>
            <a:ext cx="74239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kern="0" spc="1" dirty="0">
                <a:solidFill>
                  <a:srgbClr val="FFFFFF">
                    <a:alpha val="70000"/>
                  </a:srgbClr>
                </a:solidFill>
              </a:rPr>
              <a:t>Gold Layer</a:t>
            </a:r>
            <a:endParaRPr lang="en-US" sz="834" dirty="0"/>
          </a:p>
        </p:txBody>
      </p:sp>
      <p:pic>
        <p:nvPicPr>
          <p:cNvPr id="36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688" y="3205758"/>
            <a:ext cx="53578" cy="85725"/>
          </a:xfrm>
          <a:prstGeom prst="rect">
            <a:avLst/>
          </a:prstGeom>
        </p:spPr>
      </p:pic>
      <p:sp>
        <p:nvSpPr>
          <p:cNvPr id="37" name="Text 21"/>
          <p:cNvSpPr/>
          <p:nvPr/>
        </p:nvSpPr>
        <p:spPr>
          <a:xfrm>
            <a:off x="6768703" y="3177183"/>
            <a:ext cx="158948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Stream processing to Gold layer</a:t>
            </a:r>
            <a:endParaRPr lang="en-US" sz="834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43688" y="3632932"/>
            <a:ext cx="53578" cy="85725"/>
          </a:xfrm>
          <a:prstGeom prst="rect">
            <a:avLst/>
          </a:prstGeom>
        </p:spPr>
      </p:pic>
      <p:sp>
        <p:nvSpPr>
          <p:cNvPr id="39" name="Text 22"/>
          <p:cNvSpPr/>
          <p:nvPr/>
        </p:nvSpPr>
        <p:spPr>
          <a:xfrm>
            <a:off x="6768703" y="3604357"/>
            <a:ext cx="158948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Stored Procedure: 3 Business Use Cases</a:t>
            </a:r>
            <a:endParaRPr lang="en-US" sz="834" dirty="0"/>
          </a:p>
        </p:txBody>
      </p:sp>
      <p:pic>
        <p:nvPicPr>
          <p:cNvPr id="40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43688" y="4060106"/>
            <a:ext cx="53578" cy="85725"/>
          </a:xfrm>
          <a:prstGeom prst="rect">
            <a:avLst/>
          </a:prstGeom>
        </p:spPr>
      </p:pic>
      <p:sp>
        <p:nvSpPr>
          <p:cNvPr id="41" name="Text 23"/>
          <p:cNvSpPr/>
          <p:nvPr/>
        </p:nvSpPr>
        <p:spPr>
          <a:xfrm>
            <a:off x="6768703" y="4031531"/>
            <a:ext cx="158948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Aggregated Views for Reporting</a:t>
            </a:r>
            <a:endParaRPr lang="en-US" sz="83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28625" y="285750"/>
            <a:ext cx="8286750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1"/>
          <p:cNvSpPr/>
          <p:nvPr/>
        </p:nvSpPr>
        <p:spPr>
          <a:xfrm>
            <a:off x="428625" y="801886"/>
            <a:ext cx="8286750" cy="14288"/>
          </a:xfrm>
          <a:prstGeom prst="rect">
            <a:avLst/>
          </a:prstGeom>
          <a:solidFill>
            <a:srgbClr val="4B9CD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40221"/>
            <a:ext cx="300038" cy="30003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71537" y="285750"/>
            <a:ext cx="5430533" cy="341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AI-Powered Data Enrichment – Bronze Layer</a:t>
            </a:r>
            <a:endParaRPr lang="en-US" sz="2121" dirty="0"/>
          </a:p>
        </p:txBody>
      </p:sp>
      <p:sp>
        <p:nvSpPr>
          <p:cNvPr id="8" name="Shape 3"/>
          <p:cNvSpPr/>
          <p:nvPr/>
        </p:nvSpPr>
        <p:spPr>
          <a:xfrm>
            <a:off x="428625" y="1360884"/>
            <a:ext cx="4000500" cy="2443166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4B9CD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972" y="1545729"/>
            <a:ext cx="228600" cy="2286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39584" y="1574496"/>
            <a:ext cx="1643537" cy="194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B9CD3"/>
                </a:solidFill>
              </a:rPr>
              <a:t>Sentiment Analysis</a:t>
            </a:r>
            <a:endParaRPr lang="en-US" sz="1193" dirty="0"/>
          </a:p>
        </p:txBody>
      </p:sp>
      <p:sp>
        <p:nvSpPr>
          <p:cNvPr id="12" name="Text 6"/>
          <p:cNvSpPr/>
          <p:nvPr/>
        </p:nvSpPr>
        <p:spPr>
          <a:xfrm>
            <a:off x="642938" y="2107406"/>
            <a:ext cx="453377" cy="111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70000"/>
                  </a:srgbClr>
                </a:solidFill>
              </a:rPr>
              <a:t>-1.0 (Neg)</a:t>
            </a:r>
            <a:endParaRPr lang="en-US" sz="727" dirty="0"/>
          </a:p>
        </p:txBody>
      </p:sp>
      <p:sp>
        <p:nvSpPr>
          <p:cNvPr id="13" name="Text 7"/>
          <p:cNvSpPr/>
          <p:nvPr/>
        </p:nvSpPr>
        <p:spPr>
          <a:xfrm>
            <a:off x="2396672" y="2107406"/>
            <a:ext cx="57234" cy="111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70000"/>
                  </a:srgbClr>
                </a:solidFill>
              </a:rPr>
              <a:t>0</a:t>
            </a:r>
            <a:endParaRPr lang="en-US" sz="727" dirty="0"/>
          </a:p>
        </p:txBody>
      </p:sp>
      <p:sp>
        <p:nvSpPr>
          <p:cNvPr id="14" name="Text 8"/>
          <p:cNvSpPr/>
          <p:nvPr/>
        </p:nvSpPr>
        <p:spPr>
          <a:xfrm>
            <a:off x="3754264" y="2107406"/>
            <a:ext cx="453377" cy="111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70000"/>
                  </a:srgbClr>
                </a:solidFill>
              </a:rPr>
              <a:t>+1.0 (Pos)</a:t>
            </a:r>
            <a:endParaRPr lang="en-US" sz="727" dirty="0"/>
          </a:p>
        </p:txBody>
      </p:sp>
      <p:sp>
        <p:nvSpPr>
          <p:cNvPr id="16" name="Text 9"/>
          <p:cNvSpPr/>
          <p:nvPr/>
        </p:nvSpPr>
        <p:spPr>
          <a:xfrm>
            <a:off x="785813" y="2398514"/>
            <a:ext cx="2469589" cy="16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Cortex.SENTIMENT()</a:t>
            </a:r>
            <a:r>
              <a:rPr lang="en-US" sz="834" dirty="0">
                <a:solidFill>
                  <a:srgbClr val="FFFFFF"/>
                </a:solidFill>
              </a:rPr>
              <a:t> on 894 plot descriptions</a:t>
            </a:r>
            <a:endParaRPr lang="en-US" sz="784" dirty="0"/>
          </a:p>
        </p:txBody>
      </p:sp>
      <p:sp>
        <p:nvSpPr>
          <p:cNvPr id="20" name="Text 11"/>
          <p:cNvSpPr/>
          <p:nvPr/>
        </p:nvSpPr>
        <p:spPr>
          <a:xfrm>
            <a:off x="785813" y="2541389"/>
            <a:ext cx="3001882" cy="16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Enables emotional tone matching for recommendations</a:t>
            </a:r>
            <a:endParaRPr lang="en-US" sz="834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916" y="2849745"/>
            <a:ext cx="228600" cy="228600"/>
          </a:xfrm>
          <a:prstGeom prst="rect">
            <a:avLst/>
          </a:prstGeom>
        </p:spPr>
      </p:pic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7001" y="2780349"/>
            <a:ext cx="257175" cy="342900"/>
          </a:xfrm>
          <a:prstGeom prst="rect">
            <a:avLst/>
          </a:prstGeom>
        </p:spPr>
      </p:pic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30760" y="2878320"/>
            <a:ext cx="171450" cy="171450"/>
          </a:xfrm>
          <a:prstGeom prst="rect">
            <a:avLst/>
          </a:prstGeom>
        </p:spPr>
      </p:pic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06854" y="2780349"/>
            <a:ext cx="257175" cy="342900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744065" y="3209611"/>
            <a:ext cx="2649968" cy="16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Cortex.SUMMARIZE()</a:t>
            </a:r>
            <a:r>
              <a:rPr lang="en-US" sz="834" dirty="0">
                <a:solidFill>
                  <a:srgbClr val="FFFFFF"/>
                </a:solidFill>
              </a:rPr>
              <a:t> creates one-sentence plots</a:t>
            </a:r>
            <a:endParaRPr lang="en-US" sz="784" dirty="0"/>
          </a:p>
        </p:txBody>
      </p:sp>
      <p:sp>
        <p:nvSpPr>
          <p:cNvPr id="30" name="Text 15"/>
          <p:cNvSpPr/>
          <p:nvPr/>
        </p:nvSpPr>
        <p:spPr>
          <a:xfrm>
            <a:off x="744065" y="3385811"/>
            <a:ext cx="2297553" cy="16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Enhanced content discoverability for UI/UX</a:t>
            </a:r>
            <a:endParaRPr lang="en-US" sz="834" dirty="0"/>
          </a:p>
        </p:txBody>
      </p:sp>
      <p:sp>
        <p:nvSpPr>
          <p:cNvPr id="33" name="Shape 17"/>
          <p:cNvSpPr/>
          <p:nvPr/>
        </p:nvSpPr>
        <p:spPr>
          <a:xfrm>
            <a:off x="428625" y="3993356"/>
            <a:ext cx="8286750" cy="864394"/>
          </a:xfrm>
          <a:prstGeom prst="rect">
            <a:avLst/>
          </a:prstGeom>
          <a:solidFill>
            <a:srgbClr val="0F2D52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18"/>
          <p:cNvSpPr/>
          <p:nvPr/>
        </p:nvSpPr>
        <p:spPr>
          <a:xfrm>
            <a:off x="428625" y="3993356"/>
            <a:ext cx="8286750" cy="7144"/>
          </a:xfrm>
          <a:prstGeom prst="rect">
            <a:avLst/>
          </a:prstGeom>
          <a:solidFill>
            <a:srgbClr val="4B9C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19"/>
          <p:cNvSpPr/>
          <p:nvPr/>
        </p:nvSpPr>
        <p:spPr>
          <a:xfrm>
            <a:off x="1335798" y="4069259"/>
            <a:ext cx="1128378" cy="71973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20"/>
          <p:cNvSpPr/>
          <p:nvPr/>
        </p:nvSpPr>
        <p:spPr>
          <a:xfrm>
            <a:off x="1335798" y="4069259"/>
            <a:ext cx="21431" cy="719733"/>
          </a:xfrm>
          <a:prstGeom prst="rect">
            <a:avLst/>
          </a:prstGeom>
          <a:solidFill>
            <a:srgbClr val="ED1C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21"/>
          <p:cNvSpPr/>
          <p:nvPr/>
        </p:nvSpPr>
        <p:spPr>
          <a:xfrm>
            <a:off x="1553682" y="4176415"/>
            <a:ext cx="678321" cy="292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FFFF"/>
                </a:solidFill>
              </a:rPr>
              <a:t>894</a:t>
            </a:r>
            <a:endParaRPr lang="en-US" sz="1808" dirty="0"/>
          </a:p>
        </p:txBody>
      </p:sp>
      <p:sp>
        <p:nvSpPr>
          <p:cNvPr id="38" name="Text 22"/>
          <p:cNvSpPr/>
          <p:nvPr/>
        </p:nvSpPr>
        <p:spPr>
          <a:xfrm>
            <a:off x="1553682" y="4542532"/>
            <a:ext cx="678321" cy="111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4B9CD3"/>
                </a:solidFill>
              </a:rPr>
              <a:t>Total Rows</a:t>
            </a:r>
            <a:endParaRPr lang="en-US" sz="727" dirty="0"/>
          </a:p>
        </p:txBody>
      </p:sp>
      <p:sp>
        <p:nvSpPr>
          <p:cNvPr id="39" name="Shape 23"/>
          <p:cNvSpPr/>
          <p:nvPr/>
        </p:nvSpPr>
        <p:spPr>
          <a:xfrm>
            <a:off x="3696333" y="4069259"/>
            <a:ext cx="1127122" cy="71973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24"/>
          <p:cNvSpPr/>
          <p:nvPr/>
        </p:nvSpPr>
        <p:spPr>
          <a:xfrm>
            <a:off x="3696333" y="4069259"/>
            <a:ext cx="21431" cy="719733"/>
          </a:xfrm>
          <a:prstGeom prst="rect">
            <a:avLst/>
          </a:prstGeom>
          <a:solidFill>
            <a:srgbClr val="ED1C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25"/>
          <p:cNvSpPr/>
          <p:nvPr/>
        </p:nvSpPr>
        <p:spPr>
          <a:xfrm>
            <a:off x="3921361" y="4176415"/>
            <a:ext cx="677066" cy="292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FFFF"/>
                </a:solidFill>
              </a:rPr>
              <a:t>715</a:t>
            </a:r>
            <a:endParaRPr lang="en-US" sz="1808" dirty="0"/>
          </a:p>
        </p:txBody>
      </p:sp>
      <p:sp>
        <p:nvSpPr>
          <p:cNvPr id="42" name="Text 26"/>
          <p:cNvSpPr/>
          <p:nvPr/>
        </p:nvSpPr>
        <p:spPr>
          <a:xfrm>
            <a:off x="3921361" y="4542532"/>
            <a:ext cx="677066" cy="111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4B9CD3"/>
                </a:solidFill>
              </a:rPr>
              <a:t>Valid Years</a:t>
            </a:r>
            <a:endParaRPr lang="en-US" sz="727" dirty="0"/>
          </a:p>
        </p:txBody>
      </p:sp>
      <p:sp>
        <p:nvSpPr>
          <p:cNvPr id="43" name="Shape 27"/>
          <p:cNvSpPr/>
          <p:nvPr/>
        </p:nvSpPr>
        <p:spPr>
          <a:xfrm>
            <a:off x="6069899" y="4069259"/>
            <a:ext cx="1731076" cy="71973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28"/>
          <p:cNvSpPr/>
          <p:nvPr/>
        </p:nvSpPr>
        <p:spPr>
          <a:xfrm>
            <a:off x="6069899" y="4069259"/>
            <a:ext cx="21431" cy="719733"/>
          </a:xfrm>
          <a:prstGeom prst="rect">
            <a:avLst/>
          </a:prstGeom>
          <a:solidFill>
            <a:srgbClr val="ED1C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29"/>
          <p:cNvSpPr/>
          <p:nvPr/>
        </p:nvSpPr>
        <p:spPr>
          <a:xfrm>
            <a:off x="6302071" y="4176415"/>
            <a:ext cx="1281019" cy="292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FFFF"/>
                </a:solidFill>
              </a:rPr>
              <a:t>879</a:t>
            </a:r>
            <a:endParaRPr lang="en-US" sz="1808" dirty="0"/>
          </a:p>
        </p:txBody>
      </p:sp>
      <p:sp>
        <p:nvSpPr>
          <p:cNvPr id="46" name="Text 30"/>
          <p:cNvSpPr/>
          <p:nvPr/>
        </p:nvSpPr>
        <p:spPr>
          <a:xfrm>
            <a:off x="6302071" y="4542532"/>
            <a:ext cx="1281019" cy="111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4B9CD3"/>
                </a:solidFill>
              </a:rPr>
              <a:t>High-Quality Ratings</a:t>
            </a:r>
            <a:endParaRPr lang="en-US" sz="727" dirty="0"/>
          </a:p>
        </p:txBody>
      </p:sp>
      <p:pic>
        <p:nvPicPr>
          <p:cNvPr id="48" name="Picture 4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6B41D88-1BC9-F112-3F8F-5092239EA5F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18671"/>
          <a:stretch>
            <a:fillRect/>
          </a:stretch>
        </p:blipFill>
        <p:spPr>
          <a:xfrm>
            <a:off x="4286647" y="1360885"/>
            <a:ext cx="4534397" cy="2443166"/>
          </a:xfrm>
          <a:prstGeom prst="rect">
            <a:avLst/>
          </a:prstGeom>
        </p:spPr>
      </p:pic>
      <p:sp>
        <p:nvSpPr>
          <p:cNvPr id="49" name="Text 13">
            <a:extLst>
              <a:ext uri="{FF2B5EF4-FFF2-40B4-BE49-F238E27FC236}">
                <a16:creationId xmlns:a16="http://schemas.microsoft.com/office/drawing/2014/main" id="{8AE485C0-6890-A76C-494E-4753E6C4DE7B}"/>
              </a:ext>
            </a:extLst>
          </p:cNvPr>
          <p:cNvSpPr/>
          <p:nvPr/>
        </p:nvSpPr>
        <p:spPr>
          <a:xfrm>
            <a:off x="827237" y="2884061"/>
            <a:ext cx="1713495" cy="194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B9CD3"/>
                </a:solidFill>
              </a:rPr>
              <a:t>Text Summarization</a:t>
            </a:r>
            <a:endParaRPr lang="en-US" sz="119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7457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428625" y="801886"/>
            <a:ext cx="8286750" cy="14288"/>
          </a:xfrm>
          <a:prstGeom prst="rect">
            <a:avLst/>
          </a:prstGeom>
          <a:solidFill>
            <a:srgbClr val="4B9CD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40221"/>
            <a:ext cx="300038" cy="30003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71538" y="285750"/>
            <a:ext cx="1546705" cy="3411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Cortex Search</a:t>
            </a:r>
            <a:endParaRPr lang="en-US" sz="2121" dirty="0"/>
          </a:p>
        </p:txBody>
      </p:sp>
      <p:sp>
        <p:nvSpPr>
          <p:cNvPr id="7" name="Shape 3"/>
          <p:cNvSpPr/>
          <p:nvPr/>
        </p:nvSpPr>
        <p:spPr>
          <a:xfrm>
            <a:off x="428625" y="1087636"/>
            <a:ext cx="3643313" cy="279569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 flipV="1">
            <a:off x="428625" y="1135527"/>
            <a:ext cx="3643314" cy="45719"/>
          </a:xfrm>
          <a:prstGeom prst="rect">
            <a:avLst/>
          </a:prstGeom>
          <a:solidFill>
            <a:srgbClr val="ED1C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2462945" y="1188212"/>
            <a:ext cx="226057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D1C24"/>
                </a:solidFill>
              </a:rPr>
              <a:t>Traditional SQL Search</a:t>
            </a:r>
            <a:endParaRPr lang="en-US" sz="1193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0281" y="1521123"/>
            <a:ext cx="128588" cy="1285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434181" y="1485807"/>
            <a:ext cx="201523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Limited to exact phrase matching</a:t>
            </a:r>
            <a:endParaRPr lang="en-US" sz="942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0281" y="1775037"/>
            <a:ext cx="128588" cy="12858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2201058" y="1741925"/>
            <a:ext cx="1600392" cy="346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"family holiday" misses Christmas movies</a:t>
            </a:r>
            <a:endParaRPr lang="en-US" sz="942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5641" y="2229627"/>
            <a:ext cx="128588" cy="12858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2476829" y="2191894"/>
            <a:ext cx="2121331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Low recall, manual filtering needed</a:t>
            </a:r>
            <a:endParaRPr lang="en-US" sz="942" dirty="0"/>
          </a:p>
        </p:txBody>
      </p:sp>
      <p:sp>
        <p:nvSpPr>
          <p:cNvPr id="18" name="Shape 10"/>
          <p:cNvSpPr/>
          <p:nvPr/>
        </p:nvSpPr>
        <p:spPr>
          <a:xfrm>
            <a:off x="4342560" y="2390033"/>
            <a:ext cx="428625" cy="42862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9" name="Text 11"/>
          <p:cNvSpPr/>
          <p:nvPr/>
        </p:nvSpPr>
        <p:spPr>
          <a:xfrm>
            <a:off x="4342559" y="2377952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2D52"/>
                </a:solidFill>
              </a:rPr>
              <a:t>VS</a:t>
            </a:r>
            <a:endParaRPr lang="en-US" sz="1193" dirty="0"/>
          </a:p>
        </p:txBody>
      </p:sp>
      <p:sp>
        <p:nvSpPr>
          <p:cNvPr id="20" name="Shape 12"/>
          <p:cNvSpPr/>
          <p:nvPr/>
        </p:nvSpPr>
        <p:spPr>
          <a:xfrm>
            <a:off x="6594128" y="1087636"/>
            <a:ext cx="2121248" cy="279569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3"/>
          <p:cNvSpPr/>
          <p:nvPr/>
        </p:nvSpPr>
        <p:spPr>
          <a:xfrm>
            <a:off x="4864873" y="1108920"/>
            <a:ext cx="3771128" cy="79291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5"/>
          <p:cNvSpPr/>
          <p:nvPr/>
        </p:nvSpPr>
        <p:spPr>
          <a:xfrm>
            <a:off x="4924641" y="1208250"/>
            <a:ext cx="230157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CAF50"/>
                </a:solidFill>
              </a:rPr>
              <a:t>Cortex Semantic Search</a:t>
            </a:r>
            <a:endParaRPr lang="en-US" sz="1193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9878" y="1523696"/>
            <a:ext cx="128588" cy="12858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4938424" y="1499358"/>
            <a:ext cx="2102551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Understands concepts and themes</a:t>
            </a:r>
            <a:endParaRPr lang="en-US" sz="942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6284" y="1839331"/>
            <a:ext cx="128588" cy="128588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4826895" y="1809248"/>
            <a:ext cx="1783725" cy="354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"family holiday" finds Christmas, Thanksgiving</a:t>
            </a:r>
            <a:endParaRPr lang="en-US" sz="942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6284" y="2206169"/>
            <a:ext cx="128588" cy="128588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4868353" y="2185187"/>
            <a:ext cx="1625762" cy="346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High precision with contextual understanding</a:t>
            </a:r>
            <a:endParaRPr lang="en-US" sz="942" dirty="0"/>
          </a:p>
        </p:txBody>
      </p:sp>
      <p:sp>
        <p:nvSpPr>
          <p:cNvPr id="31" name="Shape 19"/>
          <p:cNvSpPr/>
          <p:nvPr/>
        </p:nvSpPr>
        <p:spPr>
          <a:xfrm>
            <a:off x="428625" y="4090495"/>
            <a:ext cx="8286750" cy="841177"/>
          </a:xfrm>
          <a:prstGeom prst="rect">
            <a:avLst/>
          </a:prstGeom>
          <a:solidFill>
            <a:srgbClr val="0F2D52">
              <a:alpha val="60000"/>
            </a:srgbClr>
          </a:solidFill>
          <a:ln w="9144">
            <a:solidFill>
              <a:srgbClr val="4B9C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0"/>
          <p:cNvSpPr/>
          <p:nvPr/>
        </p:nvSpPr>
        <p:spPr>
          <a:xfrm>
            <a:off x="714375" y="4426251"/>
            <a:ext cx="448841" cy="132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B9CD3"/>
                </a:solidFill>
              </a:rPr>
              <a:t>EXAMPLES</a:t>
            </a:r>
            <a:endParaRPr lang="en-US" sz="784" dirty="0"/>
          </a:p>
        </p:txBody>
      </p:sp>
      <p:sp>
        <p:nvSpPr>
          <p:cNvPr id="33" name="Shape 21"/>
          <p:cNvSpPr/>
          <p:nvPr/>
        </p:nvSpPr>
        <p:spPr>
          <a:xfrm>
            <a:off x="2173095" y="4233370"/>
            <a:ext cx="1942626" cy="541139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2"/>
          <p:cNvSpPr/>
          <p:nvPr/>
        </p:nvSpPr>
        <p:spPr>
          <a:xfrm>
            <a:off x="2173095" y="4233370"/>
            <a:ext cx="21431" cy="541139"/>
          </a:xfrm>
          <a:prstGeom prst="rect">
            <a:avLst/>
          </a:prstGeom>
          <a:solidFill>
            <a:srgbClr val="4B9C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3"/>
          <p:cNvSpPr/>
          <p:nvPr/>
        </p:nvSpPr>
        <p:spPr>
          <a:xfrm>
            <a:off x="2280252" y="4340526"/>
            <a:ext cx="171402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i="1" dirty="0">
                <a:solidFill>
                  <a:srgbClr val="FFFFFF">
                    <a:alpha val="80000"/>
                  </a:srgbClr>
                </a:solidFill>
              </a:rPr>
              <a:t>"teenage romance"</a:t>
            </a:r>
            <a:endParaRPr lang="en-US" sz="727" dirty="0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80252" y="4533407"/>
            <a:ext cx="100013" cy="114300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2415983" y="4511976"/>
            <a:ext cx="107226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Young love stories</a:t>
            </a:r>
            <a:endParaRPr lang="en-US" sz="784" dirty="0"/>
          </a:p>
        </p:txBody>
      </p:sp>
      <p:sp>
        <p:nvSpPr>
          <p:cNvPr id="38" name="Shape 25"/>
          <p:cNvSpPr/>
          <p:nvPr/>
        </p:nvSpPr>
        <p:spPr>
          <a:xfrm>
            <a:off x="4315746" y="4233370"/>
            <a:ext cx="1949769" cy="541139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26"/>
          <p:cNvSpPr/>
          <p:nvPr/>
        </p:nvSpPr>
        <p:spPr>
          <a:xfrm>
            <a:off x="4315746" y="4233370"/>
            <a:ext cx="21431" cy="541139"/>
          </a:xfrm>
          <a:prstGeom prst="rect">
            <a:avLst/>
          </a:prstGeom>
          <a:solidFill>
            <a:srgbClr val="4B9C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27"/>
          <p:cNvSpPr/>
          <p:nvPr/>
        </p:nvSpPr>
        <p:spPr>
          <a:xfrm>
            <a:off x="4430046" y="4340526"/>
            <a:ext cx="17211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i="1" dirty="0">
                <a:solidFill>
                  <a:srgbClr val="FFFFFF">
                    <a:alpha val="80000"/>
                  </a:srgbClr>
                </a:solidFill>
              </a:rPr>
              <a:t>"animated movie" + Genre</a:t>
            </a:r>
            <a:endParaRPr lang="en-US" sz="727" dirty="0"/>
          </a:p>
        </p:txBody>
      </p:sp>
      <p:pic>
        <p:nvPicPr>
          <p:cNvPr id="41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30046" y="4533407"/>
            <a:ext cx="100013" cy="114300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4565777" y="4511976"/>
            <a:ext cx="96984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Precision results</a:t>
            </a:r>
            <a:endParaRPr lang="en-US" sz="784" dirty="0"/>
          </a:p>
        </p:txBody>
      </p:sp>
      <p:sp>
        <p:nvSpPr>
          <p:cNvPr id="43" name="Shape 29"/>
          <p:cNvSpPr/>
          <p:nvPr/>
        </p:nvSpPr>
        <p:spPr>
          <a:xfrm>
            <a:off x="6472684" y="4233370"/>
            <a:ext cx="1956913" cy="541139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30"/>
          <p:cNvSpPr/>
          <p:nvPr/>
        </p:nvSpPr>
        <p:spPr>
          <a:xfrm>
            <a:off x="6472684" y="4233370"/>
            <a:ext cx="21431" cy="541139"/>
          </a:xfrm>
          <a:prstGeom prst="rect">
            <a:avLst/>
          </a:prstGeom>
          <a:solidFill>
            <a:srgbClr val="4B9C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31"/>
          <p:cNvSpPr/>
          <p:nvPr/>
        </p:nvSpPr>
        <p:spPr>
          <a:xfrm>
            <a:off x="6594128" y="4340526"/>
            <a:ext cx="17283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i="1" dirty="0">
                <a:solidFill>
                  <a:srgbClr val="FFFFFF">
                    <a:alpha val="80000"/>
                  </a:srgbClr>
                </a:solidFill>
              </a:rPr>
              <a:t>"superhero action"</a:t>
            </a:r>
            <a:endParaRPr lang="en-US" sz="727" dirty="0"/>
          </a:p>
        </p:txBody>
      </p:sp>
      <p:pic>
        <p:nvPicPr>
          <p:cNvPr id="46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94128" y="4533407"/>
            <a:ext cx="100013" cy="114300"/>
          </a:xfrm>
          <a:prstGeom prst="rect">
            <a:avLst/>
          </a:prstGeom>
        </p:spPr>
      </p:pic>
      <p:sp>
        <p:nvSpPr>
          <p:cNvPr id="47" name="Text 32"/>
          <p:cNvSpPr/>
          <p:nvPr/>
        </p:nvSpPr>
        <p:spPr>
          <a:xfrm>
            <a:off x="6729859" y="4511976"/>
            <a:ext cx="112472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Marvel, DC, Origins</a:t>
            </a:r>
            <a:endParaRPr lang="en-US" sz="784" dirty="0"/>
          </a:p>
        </p:txBody>
      </p:sp>
      <p:pic>
        <p:nvPicPr>
          <p:cNvPr id="49" name="Picture 4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D9332C-8EEA-962E-371F-4658D77279E0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b="30853"/>
          <a:stretch>
            <a:fillRect/>
          </a:stretch>
        </p:blipFill>
        <p:spPr>
          <a:xfrm>
            <a:off x="6648858" y="1924013"/>
            <a:ext cx="2178445" cy="2118261"/>
          </a:xfrm>
          <a:prstGeom prst="rect">
            <a:avLst/>
          </a:prstGeom>
        </p:spPr>
      </p:pic>
      <p:pic>
        <p:nvPicPr>
          <p:cNvPr id="51" name="Picture 50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2F8E1C62-5AD8-8DB4-A327-5B5BA2ABF1FF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7642" r="35747"/>
          <a:stretch>
            <a:fillRect/>
          </a:stretch>
        </p:blipFill>
        <p:spPr>
          <a:xfrm>
            <a:off x="1008307" y="2475823"/>
            <a:ext cx="3083132" cy="14038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43B52-BD5E-9816-C87C-B31201143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6FF3D5A0-C50F-AEF3-5770-DE1C123EE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79219"/>
          </a:xfrm>
          <a:prstGeom prst="rect">
            <a:avLst/>
          </a:prstGeom>
        </p:spPr>
      </p:pic>
      <p:pic>
        <p:nvPicPr>
          <p:cNvPr id="2" name="Picture 1" descr="A diagram of a structure&#10;&#10;AI-generated content may be incorrect.">
            <a:extLst>
              <a:ext uri="{FF2B5EF4-FFF2-40B4-BE49-F238E27FC236}">
                <a16:creationId xmlns:a16="http://schemas.microsoft.com/office/drawing/2014/main" id="{7262B0C2-72AC-4938-47F4-8EEEA4FADA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399"/>
          <a:stretch>
            <a:fillRect/>
          </a:stretch>
        </p:blipFill>
        <p:spPr>
          <a:xfrm>
            <a:off x="1062414" y="732596"/>
            <a:ext cx="7019171" cy="4372145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574FE86F-4CA2-F538-3F46-0D1AEBA415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40221"/>
            <a:ext cx="337542" cy="300038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DCF7E854-7D86-9392-40CC-A13872BBC8D2}"/>
              </a:ext>
            </a:extLst>
          </p:cNvPr>
          <p:cNvSpPr/>
          <p:nvPr/>
        </p:nvSpPr>
        <p:spPr>
          <a:xfrm>
            <a:off x="909042" y="285750"/>
            <a:ext cx="2741200" cy="3411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Silver Layer Architecture</a:t>
            </a:r>
            <a:endParaRPr lang="en-US" sz="2121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E13A53D8-125F-0181-96F2-2DC912528892}"/>
              </a:ext>
            </a:extLst>
          </p:cNvPr>
          <p:cNvSpPr/>
          <p:nvPr/>
        </p:nvSpPr>
        <p:spPr>
          <a:xfrm>
            <a:off x="428625" y="643830"/>
            <a:ext cx="8286750" cy="14288"/>
          </a:xfrm>
          <a:prstGeom prst="rect">
            <a:avLst/>
          </a:prstGeom>
          <a:solidFill>
            <a:srgbClr val="4B9CD3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547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8078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428625" y="801886"/>
            <a:ext cx="8286750" cy="14288"/>
          </a:xfrm>
          <a:prstGeom prst="rect">
            <a:avLst/>
          </a:prstGeom>
          <a:solidFill>
            <a:srgbClr val="4B9CD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40221"/>
            <a:ext cx="375047" cy="30003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46547" y="285750"/>
            <a:ext cx="1635512" cy="3411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Cortex Analyst</a:t>
            </a:r>
            <a:endParaRPr lang="en-US" sz="2121" dirty="0"/>
          </a:p>
        </p:txBody>
      </p:sp>
      <p:sp>
        <p:nvSpPr>
          <p:cNvPr id="7" name="Shape 3"/>
          <p:cNvSpPr/>
          <p:nvPr/>
        </p:nvSpPr>
        <p:spPr>
          <a:xfrm>
            <a:off x="428625" y="1016198"/>
            <a:ext cx="5434022" cy="3864546"/>
          </a:xfrm>
          <a:prstGeom prst="rect">
            <a:avLst/>
          </a:prstGeom>
          <a:solidFill>
            <a:srgbClr val="0F2D52">
              <a:alpha val="80000"/>
            </a:srgbClr>
          </a:solidFill>
          <a:ln w="9144">
            <a:solidFill>
              <a:srgbClr val="4B9C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4"/>
          <p:cNvSpPr/>
          <p:nvPr/>
        </p:nvSpPr>
        <p:spPr>
          <a:xfrm>
            <a:off x="571500" y="1159073"/>
            <a:ext cx="3574386" cy="530033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5"/>
          <p:cNvSpPr/>
          <p:nvPr/>
        </p:nvSpPr>
        <p:spPr>
          <a:xfrm>
            <a:off x="571500" y="1159073"/>
            <a:ext cx="28575" cy="530033"/>
          </a:xfrm>
          <a:prstGeom prst="rect">
            <a:avLst/>
          </a:prstGeom>
          <a:solidFill>
            <a:srgbClr val="ED1C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714375" y="1266230"/>
            <a:ext cx="326006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D1C24"/>
                </a:solidFill>
              </a:rPr>
              <a:t>User</a:t>
            </a:r>
            <a:endParaRPr lang="en-US" sz="584" dirty="0"/>
          </a:p>
        </p:txBody>
      </p:sp>
      <p:sp>
        <p:nvSpPr>
          <p:cNvPr id="12" name="Text 7"/>
          <p:cNvSpPr/>
          <p:nvPr/>
        </p:nvSpPr>
        <p:spPr>
          <a:xfrm>
            <a:off x="714375" y="1423727"/>
            <a:ext cx="326006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"What are the highest rated action movies released in 2024?"</a:t>
            </a:r>
            <a:endParaRPr lang="en-US" sz="834" dirty="0"/>
          </a:p>
        </p:txBody>
      </p:sp>
      <p:sp>
        <p:nvSpPr>
          <p:cNvPr id="13" name="Shape 8"/>
          <p:cNvSpPr/>
          <p:nvPr/>
        </p:nvSpPr>
        <p:spPr>
          <a:xfrm>
            <a:off x="1791770" y="1831981"/>
            <a:ext cx="3923230" cy="1225767"/>
          </a:xfrm>
          <a:prstGeom prst="rect">
            <a:avLst/>
          </a:prstGeom>
          <a:solidFill>
            <a:srgbClr val="4B9CD3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5686425" y="1831981"/>
            <a:ext cx="28575" cy="1225767"/>
          </a:xfrm>
          <a:prstGeom prst="rect">
            <a:avLst/>
          </a:prstGeom>
          <a:solidFill>
            <a:srgbClr val="4B9C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1963220" y="1939137"/>
            <a:ext cx="360890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584" b="1" dirty="0">
                <a:solidFill>
                  <a:srgbClr val="4B9CD3"/>
                </a:solidFill>
              </a:rPr>
              <a:t>Cortex Analyst</a:t>
            </a:r>
            <a:endParaRPr lang="en-US" sz="584" dirty="0"/>
          </a:p>
        </p:txBody>
      </p:sp>
      <p:sp>
        <p:nvSpPr>
          <p:cNvPr id="16" name="Text 11"/>
          <p:cNvSpPr/>
          <p:nvPr/>
        </p:nvSpPr>
        <p:spPr>
          <a:xfrm>
            <a:off x="1963220" y="2096635"/>
            <a:ext cx="360890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Here are the top 3 action movies from 2024 based on IMDb ratings:</a:t>
            </a:r>
            <a:endParaRPr lang="en-US" sz="834" dirty="0"/>
          </a:p>
        </p:txBody>
      </p:sp>
      <p:sp>
        <p:nvSpPr>
          <p:cNvPr id="17" name="Shape 12"/>
          <p:cNvSpPr/>
          <p:nvPr/>
        </p:nvSpPr>
        <p:spPr>
          <a:xfrm>
            <a:off x="1963220" y="2326295"/>
            <a:ext cx="3608905" cy="624297"/>
          </a:xfrm>
          <a:prstGeom prst="rect">
            <a:avLst/>
          </a:prstGeom>
          <a:solidFill>
            <a:srgbClr val="000000">
              <a:alpha val="20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2034657" y="2397733"/>
            <a:ext cx="57150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The Hero</a:t>
            </a:r>
            <a:endParaRPr lang="en-US" sz="621" dirty="0"/>
          </a:p>
        </p:txBody>
      </p:sp>
      <p:sp>
        <p:nvSpPr>
          <p:cNvPr id="19" name="Shape 14"/>
          <p:cNvSpPr/>
          <p:nvPr/>
        </p:nvSpPr>
        <p:spPr>
          <a:xfrm>
            <a:off x="2677595" y="2429154"/>
            <a:ext cx="2537343" cy="571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5286375" y="2397733"/>
            <a:ext cx="21431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9.5</a:t>
            </a:r>
            <a:endParaRPr lang="en-US" sz="621" dirty="0"/>
          </a:p>
        </p:txBody>
      </p:sp>
      <p:sp>
        <p:nvSpPr>
          <p:cNvPr id="21" name="Text 16"/>
          <p:cNvSpPr/>
          <p:nvPr/>
        </p:nvSpPr>
        <p:spPr>
          <a:xfrm>
            <a:off x="2034657" y="2553444"/>
            <a:ext cx="57150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Space War</a:t>
            </a:r>
            <a:endParaRPr lang="en-US" sz="621" dirty="0"/>
          </a:p>
        </p:txBody>
      </p:sp>
      <p:sp>
        <p:nvSpPr>
          <p:cNvPr id="22" name="Shape 17"/>
          <p:cNvSpPr/>
          <p:nvPr/>
        </p:nvSpPr>
        <p:spPr>
          <a:xfrm>
            <a:off x="2677595" y="2584865"/>
            <a:ext cx="2537343" cy="571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5286375" y="2553444"/>
            <a:ext cx="21431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8.8</a:t>
            </a:r>
            <a:endParaRPr lang="en-US" sz="621" dirty="0"/>
          </a:p>
        </p:txBody>
      </p:sp>
      <p:sp>
        <p:nvSpPr>
          <p:cNvPr id="24" name="Text 19"/>
          <p:cNvSpPr/>
          <p:nvPr/>
        </p:nvSpPr>
        <p:spPr>
          <a:xfrm>
            <a:off x="2034657" y="2709156"/>
            <a:ext cx="57150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Fast Cars</a:t>
            </a:r>
            <a:endParaRPr lang="en-US" sz="621" dirty="0"/>
          </a:p>
        </p:txBody>
      </p:sp>
      <p:sp>
        <p:nvSpPr>
          <p:cNvPr id="25" name="Shape 20"/>
          <p:cNvSpPr/>
          <p:nvPr/>
        </p:nvSpPr>
        <p:spPr>
          <a:xfrm>
            <a:off x="2677595" y="2740577"/>
            <a:ext cx="2537343" cy="571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5286375" y="2709156"/>
            <a:ext cx="21431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8.2</a:t>
            </a:r>
            <a:endParaRPr lang="en-US" sz="621" dirty="0"/>
          </a:p>
        </p:txBody>
      </p:sp>
      <p:sp>
        <p:nvSpPr>
          <p:cNvPr id="27" name="Shape 22"/>
          <p:cNvSpPr/>
          <p:nvPr/>
        </p:nvSpPr>
        <p:spPr>
          <a:xfrm>
            <a:off x="571500" y="3186336"/>
            <a:ext cx="3209553" cy="530033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571500" y="3186336"/>
            <a:ext cx="28575" cy="530033"/>
          </a:xfrm>
          <a:prstGeom prst="rect">
            <a:avLst/>
          </a:prstGeom>
          <a:solidFill>
            <a:srgbClr val="ED1C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714375" y="3293492"/>
            <a:ext cx="2895228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D1C24"/>
                </a:solidFill>
              </a:rPr>
              <a:t>User</a:t>
            </a:r>
            <a:endParaRPr lang="en-US" sz="584" dirty="0"/>
          </a:p>
        </p:txBody>
      </p:sp>
      <p:sp>
        <p:nvSpPr>
          <p:cNvPr id="30" name="Text 25"/>
          <p:cNvSpPr/>
          <p:nvPr/>
        </p:nvSpPr>
        <p:spPr>
          <a:xfrm>
            <a:off x="714375" y="3450989"/>
            <a:ext cx="289522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"Show me the trend of Oscar winners by release year."</a:t>
            </a:r>
            <a:endParaRPr lang="en-US" sz="834" dirty="0"/>
          </a:p>
        </p:txBody>
      </p:sp>
      <p:sp>
        <p:nvSpPr>
          <p:cNvPr id="31" name="Shape 26"/>
          <p:cNvSpPr/>
          <p:nvPr/>
        </p:nvSpPr>
        <p:spPr>
          <a:xfrm>
            <a:off x="2468807" y="3859244"/>
            <a:ext cx="3246193" cy="850050"/>
          </a:xfrm>
          <a:prstGeom prst="rect">
            <a:avLst/>
          </a:prstGeom>
          <a:solidFill>
            <a:srgbClr val="4B9CD3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5686425" y="3859244"/>
            <a:ext cx="28575" cy="850050"/>
          </a:xfrm>
          <a:prstGeom prst="rect">
            <a:avLst/>
          </a:prstGeom>
          <a:solidFill>
            <a:srgbClr val="4B9C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2640257" y="3966400"/>
            <a:ext cx="2931868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584" b="1" dirty="0">
                <a:solidFill>
                  <a:srgbClr val="4B9CD3"/>
                </a:solidFill>
              </a:rPr>
              <a:t>Cortex Analyst</a:t>
            </a:r>
            <a:endParaRPr lang="en-US" sz="584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0257" y="4145328"/>
            <a:ext cx="114300" cy="11430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2790276" y="4123897"/>
            <a:ext cx="21959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Generating trend analysis visualization...</a:t>
            </a:r>
            <a:endParaRPr lang="en-US" sz="834" dirty="0"/>
          </a:p>
        </p:txBody>
      </p:sp>
      <p:sp>
        <p:nvSpPr>
          <p:cNvPr id="36" name="Text 30"/>
          <p:cNvSpPr/>
          <p:nvPr/>
        </p:nvSpPr>
        <p:spPr>
          <a:xfrm>
            <a:off x="2640257" y="4459988"/>
            <a:ext cx="293186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FFFFFF">
                    <a:alpha val="80000"/>
                  </a:srgbClr>
                </a:solidFill>
              </a:rPr>
              <a:t>Found 12 matching records. Displaying distribution by decade.</a:t>
            </a:r>
            <a:endParaRPr lang="en-US" sz="727" dirty="0"/>
          </a:p>
        </p:txBody>
      </p:sp>
      <p:sp>
        <p:nvSpPr>
          <p:cNvPr id="37" name="Shape 31"/>
          <p:cNvSpPr/>
          <p:nvPr/>
        </p:nvSpPr>
        <p:spPr>
          <a:xfrm>
            <a:off x="6143625" y="1234976"/>
            <a:ext cx="2571750" cy="103941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6143625" y="1234976"/>
            <a:ext cx="28575" cy="10394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1377851"/>
            <a:ext cx="2286000" cy="200025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6286500" y="1649313"/>
            <a:ext cx="2286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Non-Technical Empowerment</a:t>
            </a:r>
            <a:endParaRPr lang="en-US" sz="885" dirty="0"/>
          </a:p>
        </p:txBody>
      </p:sp>
      <p:sp>
        <p:nvSpPr>
          <p:cNvPr id="41" name="Text 34"/>
          <p:cNvSpPr/>
          <p:nvPr/>
        </p:nvSpPr>
        <p:spPr>
          <a:xfrm>
            <a:off x="6286500" y="1860054"/>
            <a:ext cx="22860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70000"/>
                  </a:srgbClr>
                </a:solidFill>
              </a:rPr>
              <a:t>Enables business users to query data without SQL knowledge.</a:t>
            </a:r>
            <a:endParaRPr lang="en-US" sz="727" dirty="0"/>
          </a:p>
        </p:txBody>
      </p:sp>
      <p:sp>
        <p:nvSpPr>
          <p:cNvPr id="42" name="Shape 35"/>
          <p:cNvSpPr/>
          <p:nvPr/>
        </p:nvSpPr>
        <p:spPr>
          <a:xfrm>
            <a:off x="6143625" y="2417266"/>
            <a:ext cx="2571750" cy="103941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36"/>
          <p:cNvSpPr/>
          <p:nvPr/>
        </p:nvSpPr>
        <p:spPr>
          <a:xfrm>
            <a:off x="6143625" y="2417266"/>
            <a:ext cx="28575" cy="10394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560141"/>
            <a:ext cx="2286000" cy="200025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6286500" y="2831604"/>
            <a:ext cx="2286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Real-Time Decision Support</a:t>
            </a:r>
            <a:endParaRPr lang="en-US" sz="885" dirty="0"/>
          </a:p>
        </p:txBody>
      </p:sp>
      <p:sp>
        <p:nvSpPr>
          <p:cNvPr id="46" name="Text 38"/>
          <p:cNvSpPr/>
          <p:nvPr/>
        </p:nvSpPr>
        <p:spPr>
          <a:xfrm>
            <a:off x="6286500" y="3042345"/>
            <a:ext cx="22860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70000"/>
                  </a:srgbClr>
                </a:solidFill>
              </a:rPr>
              <a:t>Instant answers to complex questions accelerate strategy.</a:t>
            </a:r>
            <a:endParaRPr lang="en-US" sz="727" dirty="0"/>
          </a:p>
        </p:txBody>
      </p:sp>
      <p:sp>
        <p:nvSpPr>
          <p:cNvPr id="47" name="Shape 39"/>
          <p:cNvSpPr/>
          <p:nvPr/>
        </p:nvSpPr>
        <p:spPr>
          <a:xfrm>
            <a:off x="6143625" y="3599557"/>
            <a:ext cx="2571750" cy="103941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0"/>
          <p:cNvSpPr/>
          <p:nvPr/>
        </p:nvSpPr>
        <p:spPr>
          <a:xfrm>
            <a:off x="6143625" y="3599557"/>
            <a:ext cx="28575" cy="10394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0" y="3742432"/>
            <a:ext cx="2286000" cy="200025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6286500" y="4013895"/>
            <a:ext cx="2286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Conversational Analytics</a:t>
            </a:r>
            <a:endParaRPr lang="en-US" sz="885" dirty="0"/>
          </a:p>
        </p:txBody>
      </p:sp>
      <p:sp>
        <p:nvSpPr>
          <p:cNvPr id="51" name="Text 42"/>
          <p:cNvSpPr/>
          <p:nvPr/>
        </p:nvSpPr>
        <p:spPr>
          <a:xfrm>
            <a:off x="6286500" y="4224635"/>
            <a:ext cx="22860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70000"/>
                  </a:srgbClr>
                </a:solidFill>
              </a:rPr>
              <a:t>Natural dialogue drives deeper data exploration and adoption.</a:t>
            </a:r>
            <a:endParaRPr lang="en-US" sz="727" dirty="0"/>
          </a:p>
        </p:txBody>
      </p:sp>
      <p:pic>
        <p:nvPicPr>
          <p:cNvPr id="53" name="Picture 5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DE8C95A-98C9-29E0-0393-9355B3C8A74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2258" y="1026974"/>
            <a:ext cx="5686756" cy="38645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428625" y="801886"/>
            <a:ext cx="8286750" cy="14288"/>
          </a:xfrm>
          <a:prstGeom prst="rect">
            <a:avLst/>
          </a:prstGeom>
          <a:solidFill>
            <a:srgbClr val="4B9CD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40221"/>
            <a:ext cx="300038" cy="30003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71538" y="285750"/>
            <a:ext cx="3606757" cy="3411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Business Use Cases – Gold Layer</a:t>
            </a:r>
            <a:endParaRPr lang="en-US" sz="2121" dirty="0"/>
          </a:p>
        </p:txBody>
      </p:sp>
      <p:sp>
        <p:nvSpPr>
          <p:cNvPr id="7" name="Shape 3"/>
          <p:cNvSpPr/>
          <p:nvPr/>
        </p:nvSpPr>
        <p:spPr>
          <a:xfrm>
            <a:off x="428625" y="1087636"/>
            <a:ext cx="2571750" cy="3196828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428625" y="1087636"/>
            <a:ext cx="2571750" cy="35719"/>
          </a:xfrm>
          <a:prstGeom prst="rect">
            <a:avLst/>
          </a:prstGeom>
          <a:solidFill>
            <a:srgbClr val="00A8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0188" y="1301948"/>
            <a:ext cx="428625" cy="4286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73265" y="1873448"/>
            <a:ext cx="128247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A8E8"/>
                </a:solidFill>
              </a:rPr>
              <a:t>Genre Trends</a:t>
            </a:r>
            <a:endParaRPr lang="en-US" sz="1193" dirty="0"/>
          </a:p>
        </p:txBody>
      </p:sp>
      <p:sp>
        <p:nvSpPr>
          <p:cNvPr id="11" name="Text 6"/>
          <p:cNvSpPr/>
          <p:nvPr/>
        </p:nvSpPr>
        <p:spPr>
          <a:xfrm>
            <a:off x="642938" y="2214563"/>
            <a:ext cx="2143125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Top 3 High-Performing Genres Per Decade</a:t>
            </a:r>
            <a:endParaRPr lang="en-US" sz="885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8" y="2743200"/>
            <a:ext cx="71438" cy="7143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85813" y="2707481"/>
            <a:ext cx="199363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Track rating &amp; engagement evolution</a:t>
            </a:r>
            <a:endParaRPr lang="en-US" sz="834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938" y="2974646"/>
            <a:ext cx="71438" cy="7143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85813" y="2938928"/>
            <a:ext cx="1944942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Content strategy across generations</a:t>
            </a:r>
            <a:endParaRPr lang="en-US" sz="834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938" y="3206093"/>
            <a:ext cx="71438" cy="7143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85813" y="3170374"/>
            <a:ext cx="168821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Historical performance analysis</a:t>
            </a:r>
            <a:endParaRPr lang="en-US" sz="834" dirty="0"/>
          </a:p>
        </p:txBody>
      </p:sp>
      <p:sp>
        <p:nvSpPr>
          <p:cNvPr id="18" name="Shape 10"/>
          <p:cNvSpPr/>
          <p:nvPr/>
        </p:nvSpPr>
        <p:spPr>
          <a:xfrm>
            <a:off x="3286125" y="1087636"/>
            <a:ext cx="2571750" cy="3196828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1"/>
          <p:cNvSpPr/>
          <p:nvPr/>
        </p:nvSpPr>
        <p:spPr>
          <a:xfrm>
            <a:off x="3286125" y="1087636"/>
            <a:ext cx="2571750" cy="35719"/>
          </a:xfrm>
          <a:prstGeom prst="rect">
            <a:avLst/>
          </a:prstGeom>
          <a:solidFill>
            <a:srgbClr val="00A8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4477" y="1301948"/>
            <a:ext cx="375047" cy="428625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3865355" y="1873448"/>
            <a:ext cx="14132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A8E8"/>
                </a:solidFill>
              </a:rPr>
              <a:t>Release Timing</a:t>
            </a:r>
            <a:endParaRPr lang="en-US" sz="1193" dirty="0"/>
          </a:p>
        </p:txBody>
      </p:sp>
      <p:sp>
        <p:nvSpPr>
          <p:cNvPr id="22" name="Text 13"/>
          <p:cNvSpPr/>
          <p:nvPr/>
        </p:nvSpPr>
        <p:spPr>
          <a:xfrm>
            <a:off x="3500438" y="2214563"/>
            <a:ext cx="2143125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Optimal Release Schedule by Genre</a:t>
            </a:r>
            <a:endParaRPr lang="en-US" sz="885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0438" y="2743200"/>
            <a:ext cx="71438" cy="7143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3643313" y="2707481"/>
            <a:ext cx="20002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Monthly/quarterly performance patterns</a:t>
            </a:r>
            <a:endParaRPr lang="en-US" sz="834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4041" y="2947494"/>
            <a:ext cx="71438" cy="71438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3643313" y="2903208"/>
            <a:ext cx="1720332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Data-driven marketing planning</a:t>
            </a:r>
            <a:endParaRPr lang="en-US" sz="834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00438" y="3170374"/>
            <a:ext cx="71438" cy="71438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3652466" y="3113085"/>
            <a:ext cx="1626152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Seasonal content optimization</a:t>
            </a:r>
            <a:endParaRPr lang="en-US" sz="834" dirty="0"/>
          </a:p>
        </p:txBody>
      </p:sp>
      <p:sp>
        <p:nvSpPr>
          <p:cNvPr id="29" name="Shape 17"/>
          <p:cNvSpPr/>
          <p:nvPr/>
        </p:nvSpPr>
        <p:spPr>
          <a:xfrm>
            <a:off x="6143625" y="1087636"/>
            <a:ext cx="2571750" cy="3196828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18"/>
          <p:cNvSpPr/>
          <p:nvPr/>
        </p:nvSpPr>
        <p:spPr>
          <a:xfrm>
            <a:off x="6143625" y="1087636"/>
            <a:ext cx="2571750" cy="35719"/>
          </a:xfrm>
          <a:prstGeom prst="rect">
            <a:avLst/>
          </a:prstGeom>
          <a:solidFill>
            <a:srgbClr val="00A8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61609" y="1301948"/>
            <a:ext cx="535781" cy="428625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6617596" y="1873448"/>
            <a:ext cx="162380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A8E8"/>
                </a:solidFill>
              </a:rPr>
              <a:t>Creative Synergy</a:t>
            </a:r>
            <a:endParaRPr lang="en-US" sz="1193" dirty="0"/>
          </a:p>
        </p:txBody>
      </p:sp>
      <p:sp>
        <p:nvSpPr>
          <p:cNvPr id="33" name="Text 20"/>
          <p:cNvSpPr/>
          <p:nvPr/>
        </p:nvSpPr>
        <p:spPr>
          <a:xfrm>
            <a:off x="6357938" y="2214563"/>
            <a:ext cx="2143125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Director-Writer Partnership Impact</a:t>
            </a:r>
            <a:endParaRPr lang="en-US" sz="885" dirty="0"/>
          </a:p>
        </p:txBody>
      </p:sp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938" y="2743200"/>
            <a:ext cx="71438" cy="71438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6500813" y="2707481"/>
            <a:ext cx="20002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Individual vs collaborative performance</a:t>
            </a:r>
            <a:endParaRPr lang="en-US" sz="834" dirty="0"/>
          </a:p>
        </p:txBody>
      </p:sp>
      <p:pic>
        <p:nvPicPr>
          <p:cNvPr id="36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7938" y="2972724"/>
            <a:ext cx="71438" cy="71438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6485020" y="2894641"/>
            <a:ext cx="1768357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Successful creative combinations</a:t>
            </a:r>
            <a:endParaRPr lang="en-US" sz="834" dirty="0"/>
          </a:p>
        </p:txBody>
      </p:sp>
      <p:pic>
        <p:nvPicPr>
          <p:cNvPr id="38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7938" y="3164687"/>
            <a:ext cx="71438" cy="71438"/>
          </a:xfrm>
          <a:prstGeom prst="rect">
            <a:avLst/>
          </a:prstGeom>
        </p:spPr>
      </p:pic>
      <p:sp>
        <p:nvSpPr>
          <p:cNvPr id="39" name="Text 23"/>
          <p:cNvSpPr/>
          <p:nvPr/>
        </p:nvSpPr>
        <p:spPr>
          <a:xfrm>
            <a:off x="6500813" y="3126088"/>
            <a:ext cx="14073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Talent acquisition strategy</a:t>
            </a:r>
            <a:endParaRPr lang="en-US" sz="834" dirty="0"/>
          </a:p>
        </p:txBody>
      </p:sp>
      <p:sp>
        <p:nvSpPr>
          <p:cNvPr id="40" name="Shape 24"/>
          <p:cNvSpPr/>
          <p:nvPr/>
        </p:nvSpPr>
        <p:spPr>
          <a:xfrm>
            <a:off x="428625" y="4427339"/>
            <a:ext cx="8286750" cy="430411"/>
          </a:xfrm>
          <a:prstGeom prst="rect">
            <a:avLst/>
          </a:prstGeom>
          <a:solidFill>
            <a:srgbClr val="4B9C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25"/>
          <p:cNvSpPr/>
          <p:nvPr/>
        </p:nvSpPr>
        <p:spPr>
          <a:xfrm>
            <a:off x="428625" y="4427339"/>
            <a:ext cx="8286750" cy="21431"/>
          </a:xfrm>
          <a:prstGeom prst="rect">
            <a:avLst/>
          </a:prstGeom>
          <a:solidFill>
            <a:srgbClr val="ED1C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26"/>
          <p:cNvSpPr/>
          <p:nvPr/>
        </p:nvSpPr>
        <p:spPr>
          <a:xfrm>
            <a:off x="428625" y="4427339"/>
            <a:ext cx="8286750" cy="43041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FFFFFF"/>
                </a:solidFill>
              </a:rPr>
              <a:t>DATA-DRIVEN CONTENT DECISIONS</a:t>
            </a:r>
            <a:endParaRPr lang="en-US" sz="98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"/>
            <a:ext cx="9144002" cy="5317326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1"/>
          <p:cNvSpPr/>
          <p:nvPr/>
        </p:nvSpPr>
        <p:spPr>
          <a:xfrm>
            <a:off x="428625" y="285750"/>
            <a:ext cx="8286750" cy="53042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428625" y="801886"/>
            <a:ext cx="8286750" cy="14288"/>
          </a:xfrm>
          <a:prstGeom prst="rect">
            <a:avLst/>
          </a:prstGeom>
          <a:solidFill>
            <a:srgbClr val="4B9CD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7" name="Google Shape;347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340221"/>
            <a:ext cx="262533" cy="300038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1"/>
          <p:cNvSpPr/>
          <p:nvPr/>
        </p:nvSpPr>
        <p:spPr>
          <a:xfrm>
            <a:off x="834033" y="285750"/>
            <a:ext cx="4013663" cy="341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21"/>
              <a:buFont typeface="Calibri"/>
              <a:buNone/>
            </a:pPr>
            <a:r>
              <a:rPr lang="en-US" sz="2121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 Case 1: Optimal Release Timing</a:t>
            </a:r>
            <a:endParaRPr sz="212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5405754" y="2206161"/>
            <a:ext cx="769990" cy="14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5"/>
              <a:buFont typeface="Calibri"/>
              <a:buNone/>
            </a:pPr>
            <a:endParaRPr sz="8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571500" y="2743115"/>
            <a:ext cx="769990" cy="14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5"/>
              <a:buFont typeface="Calibri"/>
              <a:buNone/>
            </a:pPr>
            <a:endParaRPr sz="8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1377209" y="2743115"/>
            <a:ext cx="769990" cy="14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5"/>
              <a:buFont typeface="Calibri"/>
              <a:buNone/>
            </a:pPr>
            <a:endParaRPr sz="8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2182918" y="2743115"/>
            <a:ext cx="769990" cy="14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5"/>
              <a:buFont typeface="Calibri"/>
              <a:buNone/>
            </a:pPr>
            <a:endParaRPr sz="8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3794336" y="2743115"/>
            <a:ext cx="769990" cy="14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5"/>
              <a:buFont typeface="Calibri"/>
              <a:buNone/>
            </a:pPr>
            <a:endParaRPr sz="8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4600045" y="2743115"/>
            <a:ext cx="769990" cy="14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5"/>
              <a:buFont typeface="Calibri"/>
              <a:buNone/>
            </a:pPr>
            <a:endParaRPr sz="8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5405754" y="2743115"/>
            <a:ext cx="769990" cy="14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5"/>
              <a:buFont typeface="Calibri"/>
              <a:buNone/>
            </a:pPr>
            <a:endParaRPr sz="8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571500" y="3284882"/>
            <a:ext cx="769990" cy="14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5"/>
              <a:buFont typeface="Calibri"/>
              <a:buNone/>
            </a:pPr>
            <a:endParaRPr sz="8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1377209" y="3284882"/>
            <a:ext cx="769990" cy="14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5"/>
              <a:buFont typeface="Calibri"/>
              <a:buNone/>
            </a:pPr>
            <a:endParaRPr sz="8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2182918" y="3284882"/>
            <a:ext cx="769990" cy="14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5"/>
              <a:buFont typeface="Calibri"/>
              <a:buNone/>
            </a:pPr>
            <a:endParaRPr sz="8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2988627" y="3284882"/>
            <a:ext cx="769990" cy="14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5"/>
              <a:buFont typeface="Calibri"/>
              <a:buNone/>
            </a:pPr>
            <a:endParaRPr sz="8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4600045" y="3284882"/>
            <a:ext cx="769990" cy="14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5"/>
              <a:buFont typeface="Calibri"/>
              <a:buNone/>
            </a:pPr>
            <a:endParaRPr sz="8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5405754" y="3284882"/>
            <a:ext cx="769990" cy="14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5"/>
              <a:buFont typeface="Calibri"/>
              <a:buNone/>
            </a:pPr>
            <a:endParaRPr sz="8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571500" y="3831351"/>
            <a:ext cx="769990" cy="14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5"/>
              <a:buFont typeface="Calibri"/>
              <a:buNone/>
            </a:pPr>
            <a:endParaRPr sz="8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1377209" y="3831351"/>
            <a:ext cx="769990" cy="14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5"/>
              <a:buFont typeface="Calibri"/>
              <a:buNone/>
            </a:pPr>
            <a:endParaRPr sz="8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2182918" y="3831351"/>
            <a:ext cx="769990" cy="14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5"/>
              <a:buFont typeface="Calibri"/>
              <a:buNone/>
            </a:pPr>
            <a:endParaRPr sz="8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2988627" y="3831351"/>
            <a:ext cx="769990" cy="14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5"/>
              <a:buFont typeface="Calibri"/>
              <a:buNone/>
            </a:pPr>
            <a:endParaRPr sz="8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3794336" y="3831351"/>
            <a:ext cx="769990" cy="14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5"/>
              <a:buFont typeface="Calibri"/>
              <a:buNone/>
            </a:pPr>
            <a:endParaRPr sz="8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4600045" y="3831351"/>
            <a:ext cx="769990" cy="14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5"/>
              <a:buFont typeface="Calibri"/>
              <a:buNone/>
            </a:pPr>
            <a:endParaRPr sz="8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1"/>
          <p:cNvSpPr/>
          <p:nvPr/>
        </p:nvSpPr>
        <p:spPr>
          <a:xfrm>
            <a:off x="5405754" y="3831351"/>
            <a:ext cx="769990" cy="14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5"/>
              <a:buFont typeface="Calibri"/>
              <a:buNone/>
            </a:pPr>
            <a:endParaRPr sz="8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1"/>
          <p:cNvSpPr/>
          <p:nvPr/>
        </p:nvSpPr>
        <p:spPr>
          <a:xfrm>
            <a:off x="571500" y="4382633"/>
            <a:ext cx="769990" cy="14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5"/>
              <a:buFont typeface="Calibri"/>
              <a:buNone/>
            </a:pPr>
            <a:endParaRPr sz="8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1377209" y="4382633"/>
            <a:ext cx="769990" cy="14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5"/>
              <a:buFont typeface="Calibri"/>
              <a:buNone/>
            </a:pPr>
            <a:endParaRPr sz="8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2182918" y="4382633"/>
            <a:ext cx="769990" cy="14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5"/>
              <a:buFont typeface="Calibri"/>
              <a:buNone/>
            </a:pPr>
            <a:endParaRPr sz="8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2988627" y="4382633"/>
            <a:ext cx="769990" cy="14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5"/>
              <a:buFont typeface="Calibri"/>
              <a:buNone/>
            </a:pPr>
            <a:endParaRPr sz="8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"/>
          <p:cNvSpPr/>
          <p:nvPr/>
        </p:nvSpPr>
        <p:spPr>
          <a:xfrm>
            <a:off x="3794336" y="4382633"/>
            <a:ext cx="769990" cy="14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5"/>
              <a:buFont typeface="Calibri"/>
              <a:buNone/>
            </a:pPr>
            <a:endParaRPr sz="8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4600045" y="4382633"/>
            <a:ext cx="769990" cy="14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5"/>
              <a:buFont typeface="Calibri"/>
              <a:buNone/>
            </a:pPr>
            <a:endParaRPr sz="8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5405754" y="4382633"/>
            <a:ext cx="769990" cy="14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5"/>
              <a:buFont typeface="Calibri"/>
              <a:buNone/>
            </a:pPr>
            <a:endParaRPr sz="8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6532959" y="1016198"/>
            <a:ext cx="28575" cy="384155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6697266" y="1356420"/>
            <a:ext cx="1875234" cy="467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ED1C24"/>
              </a:buClr>
              <a:buSzPts val="1193"/>
              <a:buFont typeface="Calibri"/>
              <a:buNone/>
            </a:pPr>
            <a:r>
              <a:rPr lang="en-US" sz="1193" b="1">
                <a:solidFill>
                  <a:srgbClr val="ED1C24"/>
                </a:solidFill>
                <a:latin typeface="Calibri"/>
                <a:ea typeface="Calibri"/>
                <a:cs typeface="Calibri"/>
                <a:sym typeface="Calibri"/>
              </a:rPr>
              <a:t>Strategic Takeaways</a:t>
            </a:r>
            <a:endParaRPr sz="119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8" name="Google Shape;378;p1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97266" y="1999357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1"/>
          <p:cNvSpPr/>
          <p:nvPr/>
        </p:nvSpPr>
        <p:spPr>
          <a:xfrm>
            <a:off x="6697266" y="2169021"/>
            <a:ext cx="1658662" cy="175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Calibri"/>
              <a:buNone/>
            </a:pP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/>
          <p:nvPr/>
        </p:nvSpPr>
        <p:spPr>
          <a:xfrm>
            <a:off x="6697266" y="2361902"/>
            <a:ext cx="815001" cy="175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Calibri"/>
              <a:buNone/>
            </a:pP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1" name="Google Shape;381;p1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5116" y="2533345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11"/>
          <p:cNvSpPr/>
          <p:nvPr/>
        </p:nvSpPr>
        <p:spPr>
          <a:xfrm>
            <a:off x="6891208" y="2330331"/>
            <a:ext cx="1666500" cy="1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chemeClr val="lt1"/>
                </a:solidFill>
              </a:rPr>
              <a:t>Ranked months using a data-driven model to find the best release periods.</a:t>
            </a:r>
            <a:endParaRPr sz="900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chemeClr val="lt1"/>
                </a:solidFill>
              </a:rPr>
              <a:t> April shows the highest rating (7.58), making it the strongest month for Action releases.</a:t>
            </a:r>
            <a:endParaRPr sz="900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00" dirty="0">
              <a:solidFill>
                <a:schemeClr val="lt1"/>
              </a:solidFill>
            </a:endParaRPr>
          </a:p>
        </p:txBody>
      </p:sp>
      <p:pic>
        <p:nvPicPr>
          <p:cNvPr id="383" name="Google Shape;383;p1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79191" y="3696907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1"/>
          <p:cNvSpPr/>
          <p:nvPr/>
        </p:nvSpPr>
        <p:spPr>
          <a:xfrm>
            <a:off x="6918716" y="3510491"/>
            <a:ext cx="1610100" cy="1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chemeClr val="lt1"/>
                </a:solidFill>
              </a:rPr>
              <a:t>November performs nearly as well, providing a strong secondary release window.</a:t>
            </a:r>
            <a:endParaRPr sz="900" dirty="0">
              <a:solidFill>
                <a:schemeClr val="lt1"/>
              </a:solidFill>
            </a:endParaRPr>
          </a:p>
        </p:txBody>
      </p:sp>
      <p:sp>
        <p:nvSpPr>
          <p:cNvPr id="385" name="Google Shape;385;p11"/>
          <p:cNvSpPr/>
          <p:nvPr/>
        </p:nvSpPr>
        <p:spPr>
          <a:xfrm>
            <a:off x="6561516" y="3696896"/>
            <a:ext cx="1708500" cy="1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Calibri"/>
              <a:buNone/>
            </a:pP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6" name="Google Shape;386;p1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5127" y="4275002"/>
            <a:ext cx="128575" cy="1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11"/>
          <p:cNvSpPr/>
          <p:nvPr/>
        </p:nvSpPr>
        <p:spPr>
          <a:xfrm>
            <a:off x="6918716" y="4066552"/>
            <a:ext cx="1400400" cy="1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chemeClr val="lt1"/>
                </a:solidFill>
              </a:rPr>
              <a:t>Trend analysis confirms April (mid-spring) and November (late-fall) as the most optimal months for major releases.</a:t>
            </a:r>
            <a:endParaRPr sz="900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63636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endParaRPr sz="44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8" name="Google Shape;388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800" y="882675"/>
            <a:ext cx="6287552" cy="132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11"/>
          <p:cNvPicPr preferRelativeResize="0"/>
          <p:nvPr/>
        </p:nvPicPr>
        <p:blipFill rotWithShape="1">
          <a:blip r:embed="rId7">
            <a:alphaModFix/>
          </a:blip>
          <a:srcRect b="42366"/>
          <a:stretch/>
        </p:blipFill>
        <p:spPr>
          <a:xfrm>
            <a:off x="63801" y="4064275"/>
            <a:ext cx="6287542" cy="88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1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800" y="2310900"/>
            <a:ext cx="6287552" cy="1648626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11"/>
          <p:cNvSpPr txBox="1"/>
          <p:nvPr/>
        </p:nvSpPr>
        <p:spPr>
          <a:xfrm>
            <a:off x="6825850" y="1883200"/>
            <a:ext cx="2092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lt1"/>
                </a:solidFill>
              </a:rPr>
              <a:t>Identified monthly performance for each genre using ratings, votes, and title volume.</a:t>
            </a:r>
            <a:endParaRPr dirty="0"/>
          </a:p>
        </p:txBody>
      </p:sp>
      <p:pic>
        <p:nvPicPr>
          <p:cNvPr id="392" name="Google Shape;392;p1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5116" y="3036982"/>
            <a:ext cx="128588" cy="12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0" y="0"/>
            <a:ext cx="9144000" cy="517386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428625" y="801886"/>
            <a:ext cx="8286750" cy="14288"/>
          </a:xfrm>
          <a:prstGeom prst="rect">
            <a:avLst/>
          </a:prstGeom>
          <a:solidFill>
            <a:srgbClr val="4B9CD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40221"/>
            <a:ext cx="300038" cy="30003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71538" y="285750"/>
            <a:ext cx="4357731" cy="3411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Use Case 2: Decade Wise Genre Trends</a:t>
            </a:r>
            <a:endParaRPr lang="en-US" sz="2121" dirty="0"/>
          </a:p>
        </p:txBody>
      </p:sp>
      <p:sp>
        <p:nvSpPr>
          <p:cNvPr id="9" name="Shape 4"/>
          <p:cNvSpPr/>
          <p:nvPr/>
        </p:nvSpPr>
        <p:spPr>
          <a:xfrm>
            <a:off x="6532959" y="1016198"/>
            <a:ext cx="2182416" cy="38576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5"/>
          <p:cNvSpPr/>
          <p:nvPr/>
        </p:nvSpPr>
        <p:spPr>
          <a:xfrm>
            <a:off x="6532959" y="1016198"/>
            <a:ext cx="28575" cy="3857625"/>
          </a:xfrm>
          <a:prstGeom prst="rect">
            <a:avLst/>
          </a:prstGeom>
          <a:solidFill>
            <a:srgbClr val="ED1C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6697266" y="1707356"/>
            <a:ext cx="1875234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D1C24"/>
                </a:solidFill>
              </a:rPr>
              <a:t>Strategic Takeaways</a:t>
            </a:r>
            <a:endParaRPr lang="en-US" sz="1193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072" y="2164557"/>
            <a:ext cx="128588" cy="1285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864056" y="2125265"/>
            <a:ext cx="87337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Track rating &amp;</a:t>
            </a:r>
            <a:endParaRPr lang="en-US" sz="942" dirty="0"/>
          </a:p>
        </p:txBody>
      </p:sp>
      <p:sp>
        <p:nvSpPr>
          <p:cNvPr id="14" name="Text 8"/>
          <p:cNvSpPr/>
          <p:nvPr/>
        </p:nvSpPr>
        <p:spPr>
          <a:xfrm>
            <a:off x="6864056" y="2269033"/>
            <a:ext cx="178828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engagement evolution across</a:t>
            </a:r>
            <a:endParaRPr lang="en-US" sz="942" dirty="0"/>
          </a:p>
        </p:txBody>
      </p:sp>
      <p:sp>
        <p:nvSpPr>
          <p:cNvPr id="15" name="Text 9"/>
          <p:cNvSpPr/>
          <p:nvPr/>
        </p:nvSpPr>
        <p:spPr>
          <a:xfrm>
            <a:off x="6864056" y="2461914"/>
            <a:ext cx="53313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decades.</a:t>
            </a:r>
            <a:endParaRPr lang="en-US" sz="942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072" y="2829733"/>
            <a:ext cx="128588" cy="1285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866322" y="2761953"/>
            <a:ext cx="16161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Identify emerging content</a:t>
            </a:r>
            <a:endParaRPr lang="en-US" sz="942" dirty="0"/>
          </a:p>
        </p:txBody>
      </p:sp>
      <p:sp>
        <p:nvSpPr>
          <p:cNvPr id="18" name="Text 11"/>
          <p:cNvSpPr/>
          <p:nvPr/>
        </p:nvSpPr>
        <p:spPr>
          <a:xfrm>
            <a:off x="6853397" y="2911972"/>
            <a:ext cx="16389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gaps for future production.</a:t>
            </a:r>
            <a:endParaRPr lang="en-US" sz="942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072" y="3323631"/>
            <a:ext cx="128588" cy="12858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862840" y="3263842"/>
            <a:ext cx="138566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Content strategy must</a:t>
            </a:r>
            <a:endParaRPr lang="en-US" sz="942" dirty="0"/>
          </a:p>
        </p:txBody>
      </p:sp>
      <p:sp>
        <p:nvSpPr>
          <p:cNvPr id="21" name="Text 13"/>
          <p:cNvSpPr/>
          <p:nvPr/>
        </p:nvSpPr>
        <p:spPr>
          <a:xfrm>
            <a:off x="6843242" y="3401765"/>
            <a:ext cx="181437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adapt to generational shifts in</a:t>
            </a:r>
            <a:endParaRPr lang="en-US" sz="942" dirty="0"/>
          </a:p>
        </p:txBody>
      </p:sp>
      <p:sp>
        <p:nvSpPr>
          <p:cNvPr id="22" name="Text 14"/>
          <p:cNvSpPr/>
          <p:nvPr/>
        </p:nvSpPr>
        <p:spPr>
          <a:xfrm>
            <a:off x="6853397" y="3560490"/>
            <a:ext cx="33358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taste.</a:t>
            </a:r>
            <a:endParaRPr lang="en-US" sz="942" dirty="0"/>
          </a:p>
        </p:txBody>
      </p:sp>
      <p:pic>
        <p:nvPicPr>
          <p:cNvPr id="24" name="Picture 23" descr="A screenshot of a graph&#10;&#10;AI-generated content may be incorrect.">
            <a:extLst>
              <a:ext uri="{FF2B5EF4-FFF2-40B4-BE49-F238E27FC236}">
                <a16:creationId xmlns:a16="http://schemas.microsoft.com/office/drawing/2014/main" id="{9319B4EE-23A0-5DB8-1743-6E6A983A32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899490"/>
            <a:ext cx="3284797" cy="2101530"/>
          </a:xfrm>
          <a:prstGeom prst="rect">
            <a:avLst/>
          </a:prstGeom>
        </p:spPr>
      </p:pic>
      <p:pic>
        <p:nvPicPr>
          <p:cNvPr id="26" name="Picture 2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F3FC8DA-6689-B0F7-58A9-FB6CB1EE02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62218" y="3032931"/>
            <a:ext cx="3547966" cy="18408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815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428625" y="801886"/>
            <a:ext cx="8286750" cy="14288"/>
          </a:xfrm>
          <a:prstGeom prst="rect">
            <a:avLst/>
          </a:prstGeom>
          <a:solidFill>
            <a:srgbClr val="4B9CD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40221"/>
            <a:ext cx="375047" cy="30003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46547" y="285750"/>
            <a:ext cx="4366645" cy="3411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Use Case 3: Director-Writer Power Duo</a:t>
            </a:r>
            <a:endParaRPr lang="en-US" sz="2121" dirty="0"/>
          </a:p>
        </p:txBody>
      </p:sp>
      <p:sp>
        <p:nvSpPr>
          <p:cNvPr id="11" name="Text 7"/>
          <p:cNvSpPr/>
          <p:nvPr/>
        </p:nvSpPr>
        <p:spPr>
          <a:xfrm>
            <a:off x="785813" y="3060938"/>
            <a:ext cx="614363" cy="967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endParaRPr lang="en-US" sz="584" dirty="0"/>
          </a:p>
        </p:txBody>
      </p:sp>
      <p:sp>
        <p:nvSpPr>
          <p:cNvPr id="13" name="Text 9"/>
          <p:cNvSpPr/>
          <p:nvPr/>
        </p:nvSpPr>
        <p:spPr>
          <a:xfrm>
            <a:off x="1500188" y="4489688"/>
            <a:ext cx="614363" cy="967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endParaRPr lang="en-US" sz="584" dirty="0"/>
          </a:p>
        </p:txBody>
      </p:sp>
      <p:sp>
        <p:nvSpPr>
          <p:cNvPr id="15" name="Text 11"/>
          <p:cNvSpPr/>
          <p:nvPr/>
        </p:nvSpPr>
        <p:spPr>
          <a:xfrm>
            <a:off x="3286125" y="2346563"/>
            <a:ext cx="614363" cy="967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endParaRPr lang="en-US" sz="584" dirty="0"/>
          </a:p>
        </p:txBody>
      </p:sp>
      <p:sp>
        <p:nvSpPr>
          <p:cNvPr id="17" name="Text 13"/>
          <p:cNvSpPr/>
          <p:nvPr/>
        </p:nvSpPr>
        <p:spPr>
          <a:xfrm>
            <a:off x="3643313" y="3775313"/>
            <a:ext cx="614363" cy="967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endParaRPr lang="en-US" sz="584" dirty="0"/>
          </a:p>
        </p:txBody>
      </p:sp>
      <p:sp>
        <p:nvSpPr>
          <p:cNvPr id="18" name="Text 14"/>
          <p:cNvSpPr/>
          <p:nvPr/>
        </p:nvSpPr>
        <p:spPr>
          <a:xfrm>
            <a:off x="571500" y="4570214"/>
            <a:ext cx="65" cy="111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endParaRPr lang="en-US" sz="727" dirty="0"/>
          </a:p>
        </p:txBody>
      </p:sp>
      <p:sp>
        <p:nvSpPr>
          <p:cNvPr id="19" name="Shape 15"/>
          <p:cNvSpPr/>
          <p:nvPr/>
        </p:nvSpPr>
        <p:spPr>
          <a:xfrm>
            <a:off x="6461522" y="1016198"/>
            <a:ext cx="2253853" cy="384155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461522" y="1016198"/>
            <a:ext cx="28575" cy="3841552"/>
          </a:xfrm>
          <a:prstGeom prst="rect">
            <a:avLst/>
          </a:prstGeom>
          <a:solidFill>
            <a:srgbClr val="ED1C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625828" y="1376958"/>
            <a:ext cx="194667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D1C24"/>
                </a:solidFill>
              </a:rPr>
              <a:t>Analysis &amp; Strategy</a:t>
            </a:r>
            <a:endParaRPr lang="en-US" sz="1193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5828" y="1785938"/>
            <a:ext cx="128588" cy="1285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825853" y="1762720"/>
            <a:ext cx="165584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Identify successful creative</a:t>
            </a:r>
            <a:endParaRPr lang="en-US" sz="942" dirty="0"/>
          </a:p>
        </p:txBody>
      </p:sp>
      <p:sp>
        <p:nvSpPr>
          <p:cNvPr id="24" name="Text 19"/>
          <p:cNvSpPr/>
          <p:nvPr/>
        </p:nvSpPr>
        <p:spPr>
          <a:xfrm>
            <a:off x="6824428" y="1928924"/>
            <a:ext cx="694101" cy="1761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combinations </a:t>
            </a:r>
            <a:endParaRPr lang="en-US" sz="942" dirty="0"/>
          </a:p>
        </p:txBody>
      </p:sp>
      <p:sp>
        <p:nvSpPr>
          <p:cNvPr id="25" name="Text 20"/>
          <p:cNvSpPr/>
          <p:nvPr/>
        </p:nvSpPr>
        <p:spPr>
          <a:xfrm>
            <a:off x="6625828" y="2148483"/>
            <a:ext cx="65" cy="1761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endParaRPr lang="en-US" sz="942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0936" y="2151102"/>
            <a:ext cx="128588" cy="12858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12258" y="2096244"/>
            <a:ext cx="16055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Quantify the performance</a:t>
            </a:r>
            <a:endParaRPr lang="en-US" sz="942" dirty="0"/>
          </a:p>
        </p:txBody>
      </p:sp>
      <p:sp>
        <p:nvSpPr>
          <p:cNvPr id="28" name="Text 22"/>
          <p:cNvSpPr/>
          <p:nvPr/>
        </p:nvSpPr>
        <p:spPr>
          <a:xfrm>
            <a:off x="6824428" y="2255638"/>
            <a:ext cx="147426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uplift of collaborative vs.</a:t>
            </a:r>
            <a:endParaRPr lang="en-US" sz="942" dirty="0"/>
          </a:p>
        </p:txBody>
      </p:sp>
      <p:sp>
        <p:nvSpPr>
          <p:cNvPr id="29" name="Text 23"/>
          <p:cNvSpPr/>
          <p:nvPr/>
        </p:nvSpPr>
        <p:spPr>
          <a:xfrm>
            <a:off x="6824428" y="2444055"/>
            <a:ext cx="113800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individual projects.</a:t>
            </a:r>
            <a:endParaRPr lang="en-US" sz="942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5828" y="2730381"/>
            <a:ext cx="128588" cy="12858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818709" y="2690514"/>
            <a:ext cx="152608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Inform talent acquisition</a:t>
            </a:r>
            <a:endParaRPr lang="en-US" sz="942" dirty="0"/>
          </a:p>
        </p:txBody>
      </p:sp>
      <p:sp>
        <p:nvSpPr>
          <p:cNvPr id="32" name="Text 25"/>
          <p:cNvSpPr/>
          <p:nvPr/>
        </p:nvSpPr>
        <p:spPr>
          <a:xfrm>
            <a:off x="6813561" y="2849908"/>
            <a:ext cx="17189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strategy by targeting proven</a:t>
            </a:r>
            <a:endParaRPr lang="en-US" sz="942" dirty="0"/>
          </a:p>
        </p:txBody>
      </p:sp>
      <p:sp>
        <p:nvSpPr>
          <p:cNvPr id="33" name="Text 26"/>
          <p:cNvSpPr/>
          <p:nvPr/>
        </p:nvSpPr>
        <p:spPr>
          <a:xfrm>
            <a:off x="6825853" y="3018236"/>
            <a:ext cx="61182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synergies.</a:t>
            </a:r>
            <a:endParaRPr lang="en-US" sz="942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5828" y="3316205"/>
            <a:ext cx="128588" cy="12858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809890" y="3283188"/>
            <a:ext cx="158781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Performance is measured</a:t>
            </a:r>
            <a:endParaRPr lang="en-US" sz="942" dirty="0"/>
          </a:p>
        </p:txBody>
      </p:sp>
      <p:sp>
        <p:nvSpPr>
          <p:cNvPr id="36" name="Text 28"/>
          <p:cNvSpPr/>
          <p:nvPr/>
        </p:nvSpPr>
        <p:spPr>
          <a:xfrm>
            <a:off x="6809890" y="3458022"/>
            <a:ext cx="193076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by Metascore, IMDb Rating, and</a:t>
            </a:r>
            <a:endParaRPr lang="en-US" sz="942" dirty="0"/>
          </a:p>
        </p:txBody>
      </p:sp>
      <p:sp>
        <p:nvSpPr>
          <p:cNvPr id="37" name="Text 29"/>
          <p:cNvSpPr/>
          <p:nvPr/>
        </p:nvSpPr>
        <p:spPr>
          <a:xfrm>
            <a:off x="6807995" y="3648670"/>
            <a:ext cx="14004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Audience Engagement.</a:t>
            </a:r>
            <a:endParaRPr lang="en-US" sz="942" dirty="0"/>
          </a:p>
        </p:txBody>
      </p:sp>
      <p:pic>
        <p:nvPicPr>
          <p:cNvPr id="39" name="Picture 38" descr="A screenshot of a movie analysis&#10;&#10;AI-generated content may be incorrect.">
            <a:extLst>
              <a:ext uri="{FF2B5EF4-FFF2-40B4-BE49-F238E27FC236}">
                <a16:creationId xmlns:a16="http://schemas.microsoft.com/office/drawing/2014/main" id="{907AAE63-EA59-E066-8A9C-9762EDE208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8394" y="901208"/>
            <a:ext cx="4060219" cy="1805500"/>
          </a:xfrm>
          <a:prstGeom prst="rect">
            <a:avLst/>
          </a:prstGeom>
        </p:spPr>
      </p:pic>
      <p:pic>
        <p:nvPicPr>
          <p:cNvPr id="41" name="Picture 4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CB441D-6DFD-9B2C-0060-E104146CE8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2994" y="2766144"/>
            <a:ext cx="2696850" cy="2182257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FAD438D3-5735-AC8F-2345-4B034B5F3A2A}"/>
              </a:ext>
            </a:extLst>
          </p:cNvPr>
          <p:cNvSpPr/>
          <p:nvPr/>
        </p:nvSpPr>
        <p:spPr>
          <a:xfrm>
            <a:off x="1500188" y="1493937"/>
            <a:ext cx="858206" cy="1272207"/>
          </a:xfrm>
          <a:prstGeom prst="rect">
            <a:avLst/>
          </a:prstGeom>
          <a:solidFill>
            <a:srgbClr val="0F2C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428625" y="801886"/>
            <a:ext cx="8286750" cy="14288"/>
          </a:xfrm>
          <a:prstGeom prst="rect">
            <a:avLst/>
          </a:prstGeom>
          <a:solidFill>
            <a:srgbClr val="4B9CD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40221"/>
            <a:ext cx="337542" cy="30003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09042" y="285750"/>
            <a:ext cx="5783250" cy="3411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120" b="1" dirty="0">
                <a:solidFill>
                  <a:schemeClr val="bg1"/>
                </a:solidFill>
              </a:rPr>
              <a:t>Incremental Data Pipeline using CDC</a:t>
            </a:r>
            <a:r>
              <a:rPr lang="en-US" sz="2121" b="1" dirty="0">
                <a:solidFill>
                  <a:srgbClr val="FFFFFF"/>
                </a:solidFill>
              </a:rPr>
              <a:t>: Stream Magic</a:t>
            </a:r>
            <a:endParaRPr lang="en-US" sz="2121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672" y="1184970"/>
            <a:ext cx="321469" cy="4286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5624" y="1685032"/>
            <a:ext cx="87756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Source (CSV)</a:t>
            </a:r>
            <a:endParaRPr lang="en-US" sz="987" dirty="0"/>
          </a:p>
        </p:txBody>
      </p:sp>
      <p:sp>
        <p:nvSpPr>
          <p:cNvPr id="9" name="Text 4"/>
          <p:cNvSpPr/>
          <p:nvPr/>
        </p:nvSpPr>
        <p:spPr>
          <a:xfrm>
            <a:off x="469088" y="1879699"/>
            <a:ext cx="99063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ED1C24"/>
                </a:solidFill>
              </a:rPr>
              <a:t>+ New Data Indicator</a:t>
            </a:r>
            <a:endParaRPr lang="en-US" sz="727" dirty="0"/>
          </a:p>
        </p:txBody>
      </p:sp>
      <p:sp>
        <p:nvSpPr>
          <p:cNvPr id="10" name="Shape 5"/>
          <p:cNvSpPr/>
          <p:nvPr/>
        </p:nvSpPr>
        <p:spPr>
          <a:xfrm>
            <a:off x="1643063" y="1585913"/>
            <a:ext cx="1047759" cy="28575"/>
          </a:xfrm>
          <a:prstGeom prst="rect">
            <a:avLst/>
          </a:prstGeom>
          <a:solidFill>
            <a:srgbClr val="00A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2637244" y="1514475"/>
            <a:ext cx="12501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A8E8"/>
                </a:solidFill>
              </a:rPr>
              <a:t></a:t>
            </a:r>
            <a:endParaRPr lang="en-US" sz="987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5166" y="1087636"/>
            <a:ext cx="428625" cy="4286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833697" y="1587698"/>
            <a:ext cx="1071563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Snowflake Stream</a:t>
            </a:r>
            <a:endParaRPr lang="en-US" sz="987" dirty="0"/>
          </a:p>
        </p:txBody>
      </p:sp>
      <p:sp>
        <p:nvSpPr>
          <p:cNvPr id="14" name="Text 8"/>
          <p:cNvSpPr/>
          <p:nvPr/>
        </p:nvSpPr>
        <p:spPr>
          <a:xfrm>
            <a:off x="2871815" y="1977033"/>
            <a:ext cx="9953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4B9CD3"/>
                </a:solidFill>
              </a:rPr>
              <a:t>Auto-Detect Changes</a:t>
            </a:r>
            <a:endParaRPr lang="en-US" sz="727" dirty="0"/>
          </a:p>
        </p:txBody>
      </p:sp>
      <p:sp>
        <p:nvSpPr>
          <p:cNvPr id="15" name="Shape 9"/>
          <p:cNvSpPr/>
          <p:nvPr/>
        </p:nvSpPr>
        <p:spPr>
          <a:xfrm>
            <a:off x="4048134" y="1585913"/>
            <a:ext cx="1047759" cy="28575"/>
          </a:xfrm>
          <a:prstGeom prst="rect">
            <a:avLst/>
          </a:prstGeom>
          <a:solidFill>
            <a:srgbClr val="00A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0"/>
          <p:cNvSpPr/>
          <p:nvPr/>
        </p:nvSpPr>
        <p:spPr>
          <a:xfrm>
            <a:off x="5042315" y="1514475"/>
            <a:ext cx="12501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A8E8"/>
                </a:solidFill>
              </a:rPr>
              <a:t></a:t>
            </a:r>
            <a:endParaRPr lang="en-US" sz="987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6659" y="1184970"/>
            <a:ext cx="535781" cy="42862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239327" y="1685032"/>
            <a:ext cx="107044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Processing (SP)</a:t>
            </a:r>
            <a:endParaRPr lang="en-US" sz="987" dirty="0"/>
          </a:p>
        </p:txBody>
      </p:sp>
      <p:sp>
        <p:nvSpPr>
          <p:cNvPr id="19" name="Text 12"/>
          <p:cNvSpPr/>
          <p:nvPr/>
        </p:nvSpPr>
        <p:spPr>
          <a:xfrm>
            <a:off x="5274515" y="1879699"/>
            <a:ext cx="100004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FFD700"/>
                </a:solidFill>
              </a:rPr>
              <a:t>Transformation Logic</a:t>
            </a:r>
            <a:endParaRPr lang="en-US" sz="727" dirty="0"/>
          </a:p>
        </p:txBody>
      </p:sp>
      <p:sp>
        <p:nvSpPr>
          <p:cNvPr id="20" name="Shape 13"/>
          <p:cNvSpPr/>
          <p:nvPr/>
        </p:nvSpPr>
        <p:spPr>
          <a:xfrm>
            <a:off x="6453206" y="1585913"/>
            <a:ext cx="1047759" cy="28575"/>
          </a:xfrm>
          <a:prstGeom prst="rect">
            <a:avLst/>
          </a:prstGeom>
          <a:solidFill>
            <a:srgbClr val="00A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4"/>
          <p:cNvSpPr/>
          <p:nvPr/>
        </p:nvSpPr>
        <p:spPr>
          <a:xfrm>
            <a:off x="7447387" y="1514475"/>
            <a:ext cx="12501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A8E8"/>
                </a:solidFill>
              </a:rPr>
              <a:t></a:t>
            </a:r>
            <a:endParaRPr lang="en-US" sz="987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2098" y="1087636"/>
            <a:ext cx="375047" cy="42862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643840" y="1587698"/>
            <a:ext cx="1071563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Destination (Tables)</a:t>
            </a:r>
            <a:endParaRPr lang="en-US" sz="987" dirty="0"/>
          </a:p>
        </p:txBody>
      </p:sp>
      <p:sp>
        <p:nvSpPr>
          <p:cNvPr id="24" name="Text 16"/>
          <p:cNvSpPr/>
          <p:nvPr/>
        </p:nvSpPr>
        <p:spPr>
          <a:xfrm>
            <a:off x="7815821" y="1977033"/>
            <a:ext cx="72760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Updated Tables</a:t>
            </a:r>
            <a:endParaRPr lang="en-US" sz="727" dirty="0"/>
          </a:p>
        </p:txBody>
      </p:sp>
      <p:sp>
        <p:nvSpPr>
          <p:cNvPr id="25" name="Shape 17"/>
          <p:cNvSpPr/>
          <p:nvPr/>
        </p:nvSpPr>
        <p:spPr>
          <a:xfrm>
            <a:off x="428625" y="2398514"/>
            <a:ext cx="82867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18"/>
          <p:cNvSpPr/>
          <p:nvPr/>
        </p:nvSpPr>
        <p:spPr>
          <a:xfrm>
            <a:off x="428625" y="2398514"/>
            <a:ext cx="8286750" cy="142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8625" y="2577108"/>
            <a:ext cx="114300" cy="11430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50081" y="2541389"/>
            <a:ext cx="38147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A8E8"/>
                </a:solidFill>
              </a:rPr>
              <a:t>Snowflake Streams</a:t>
            </a:r>
            <a:r>
              <a:rPr lang="en-US" sz="942" dirty="0">
                <a:solidFill>
                  <a:srgbClr val="FFFFFF"/>
                </a:solidFill>
              </a:rPr>
              <a:t> automatically detect and record changes (INSERT, UPDATE, DELETE).</a:t>
            </a:r>
            <a:endParaRPr lang="en-US" sz="885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9156" y="2577108"/>
            <a:ext cx="114300" cy="11430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900613" y="2541389"/>
            <a:ext cx="38147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Stored procedure handles both initial load and subsequent </a:t>
            </a:r>
            <a:r>
              <a:rPr lang="en-US" sz="885" b="1" dirty="0">
                <a:solidFill>
                  <a:srgbClr val="00A8E8"/>
                </a:solidFill>
              </a:rPr>
              <a:t>incremental updates</a:t>
            </a:r>
            <a:r>
              <a:rPr lang="en-US" sz="942" dirty="0">
                <a:solidFill>
                  <a:srgbClr val="FFFFFF"/>
                </a:solidFill>
              </a:rPr>
              <a:t> seamlessly.</a:t>
            </a:r>
            <a:endParaRPr lang="en-US" sz="942" dirty="0"/>
          </a:p>
        </p:txBody>
      </p:sp>
      <p:pic>
        <p:nvPicPr>
          <p:cNvPr id="36" name="Picture 3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5384143-5FF6-F557-AE75-17DD5D9EE9D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6167" y="2970014"/>
            <a:ext cx="3139739" cy="2112030"/>
          </a:xfrm>
          <a:prstGeom prst="rect">
            <a:avLst/>
          </a:prstGeom>
        </p:spPr>
      </p:pic>
      <p:pic>
        <p:nvPicPr>
          <p:cNvPr id="38" name="Picture 3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07E72AC-31BB-6649-08A4-7359DA0ABBD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69169" y="2960657"/>
            <a:ext cx="3174254" cy="2117637"/>
          </a:xfrm>
          <a:prstGeom prst="rect">
            <a:avLst/>
          </a:prstGeom>
        </p:spPr>
      </p:pic>
      <p:pic>
        <p:nvPicPr>
          <p:cNvPr id="39" name="Image 3" descr="preencoded.png">
            <a:extLst>
              <a:ext uri="{FF2B5EF4-FFF2-40B4-BE49-F238E27FC236}">
                <a16:creationId xmlns:a16="http://schemas.microsoft.com/office/drawing/2014/main" id="{CED2D8FA-5989-0B2F-EE64-8F54947ADC5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84065" y="3634382"/>
            <a:ext cx="702527" cy="42594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7921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428625" y="801886"/>
            <a:ext cx="8286750" cy="14288"/>
          </a:xfrm>
          <a:prstGeom prst="rect">
            <a:avLst/>
          </a:prstGeom>
          <a:solidFill>
            <a:srgbClr val="4B9CD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40221"/>
            <a:ext cx="375047" cy="30003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46547" y="285750"/>
            <a:ext cx="6979472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Before &amp; After: Incremental Load Results</a:t>
            </a:r>
            <a:endParaRPr lang="en-US" sz="2121" dirty="0"/>
          </a:p>
        </p:txBody>
      </p:sp>
      <p:sp>
        <p:nvSpPr>
          <p:cNvPr id="7" name="Shape 3"/>
          <p:cNvSpPr/>
          <p:nvPr/>
        </p:nvSpPr>
        <p:spPr>
          <a:xfrm>
            <a:off x="428625" y="1016198"/>
            <a:ext cx="3955852" cy="2584252"/>
          </a:xfrm>
          <a:prstGeom prst="rect">
            <a:avLst/>
          </a:prstGeom>
          <a:solidFill>
            <a:srgbClr val="0F2D52">
              <a:alpha val="8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Shape 4"/>
          <p:cNvSpPr/>
          <p:nvPr/>
        </p:nvSpPr>
        <p:spPr>
          <a:xfrm>
            <a:off x="428625" y="1016198"/>
            <a:ext cx="3955852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4377333" y="1016198"/>
            <a:ext cx="7144" cy="25842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428625" y="3593306"/>
            <a:ext cx="3955852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28625" y="1016198"/>
            <a:ext cx="35719" cy="2584252"/>
          </a:xfrm>
          <a:prstGeom prst="rect">
            <a:avLst/>
          </a:prstGeom>
          <a:solidFill>
            <a:srgbClr val="ED1C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1724546" y="1237655"/>
            <a:ext cx="1342579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D1C24"/>
                </a:solidFill>
              </a:rPr>
              <a:t>Initial State</a:t>
            </a:r>
            <a:endParaRPr lang="en-US" sz="1602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5804" y="1693069"/>
            <a:ext cx="500063" cy="5715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49595" y="2261316"/>
            <a:ext cx="965554" cy="206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894</a:t>
            </a:r>
            <a:endParaRPr lang="en-US" sz="987" dirty="0"/>
          </a:p>
        </p:txBody>
      </p:sp>
      <p:sp>
        <p:nvSpPr>
          <p:cNvPr id="15" name="Text 10"/>
          <p:cNvSpPr/>
          <p:nvPr/>
        </p:nvSpPr>
        <p:spPr>
          <a:xfrm>
            <a:off x="1925002" y="2264569"/>
            <a:ext cx="111102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Rows Processed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1670852" y="2794992"/>
            <a:ext cx="64" cy="2065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endParaRPr lang="en-US" sz="987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3045" y="2098477"/>
            <a:ext cx="375047" cy="428625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4738092" y="1016198"/>
            <a:ext cx="3977283" cy="2584252"/>
          </a:xfrm>
          <a:prstGeom prst="rect">
            <a:avLst/>
          </a:prstGeom>
          <a:solidFill>
            <a:srgbClr val="0F2D52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4738092" y="1016198"/>
            <a:ext cx="3977283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8679656" y="1016198"/>
            <a:ext cx="35719" cy="2584252"/>
          </a:xfrm>
          <a:prstGeom prst="rect">
            <a:avLst/>
          </a:prstGeom>
          <a:solidFill>
            <a:srgbClr val="00A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4738092" y="3593306"/>
            <a:ext cx="3977283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738092" y="1016198"/>
            <a:ext cx="7144" cy="25842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5405279" y="1230511"/>
            <a:ext cx="266434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A8E8"/>
                </a:solidFill>
              </a:rPr>
              <a:t>After Incremental Load</a:t>
            </a:r>
            <a:endParaRPr lang="en-US" sz="1602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7418" y="1685925"/>
            <a:ext cx="500063" cy="5715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076652" y="2264569"/>
            <a:ext cx="302808" cy="206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+15</a:t>
            </a:r>
            <a:endParaRPr lang="en-US" sz="987" dirty="0"/>
          </a:p>
        </p:txBody>
      </p:sp>
      <p:sp>
        <p:nvSpPr>
          <p:cNvPr id="29" name="Text 22"/>
          <p:cNvSpPr/>
          <p:nvPr/>
        </p:nvSpPr>
        <p:spPr>
          <a:xfrm>
            <a:off x="6302848" y="2257425"/>
            <a:ext cx="111102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Rows Processed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428625" y="3800475"/>
            <a:ext cx="8286750" cy="1064419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428625" y="3800475"/>
            <a:ext cx="8286750" cy="21431"/>
          </a:xfrm>
          <a:prstGeom prst="rect">
            <a:avLst/>
          </a:prstGeom>
          <a:solidFill>
            <a:srgbClr val="ED1C2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33531" y="3957638"/>
            <a:ext cx="192881" cy="257175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71500" y="4286250"/>
            <a:ext cx="2516972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&lt; 2 minutes</a:t>
            </a:r>
            <a:endParaRPr lang="en-US" sz="1397" dirty="0"/>
          </a:p>
        </p:txBody>
      </p:sp>
      <p:sp>
        <p:nvSpPr>
          <p:cNvPr id="38" name="Text 30"/>
          <p:cNvSpPr/>
          <p:nvPr/>
        </p:nvSpPr>
        <p:spPr>
          <a:xfrm>
            <a:off x="571500" y="4559498"/>
            <a:ext cx="25169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dirty="0">
                <a:solidFill>
                  <a:srgbClr val="4B9CD3"/>
                </a:solidFill>
              </a:rPr>
              <a:t>Processing Time</a:t>
            </a:r>
            <a:endParaRPr lang="en-US" sz="834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39813" y="3957638"/>
            <a:ext cx="257175" cy="257175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3309928" y="4286250"/>
            <a:ext cx="2516972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Zero Downtime</a:t>
            </a:r>
            <a:endParaRPr lang="en-US" sz="1397" dirty="0"/>
          </a:p>
        </p:txBody>
      </p:sp>
      <p:sp>
        <p:nvSpPr>
          <p:cNvPr id="41" name="Text 32"/>
          <p:cNvSpPr/>
          <p:nvPr/>
        </p:nvSpPr>
        <p:spPr>
          <a:xfrm>
            <a:off x="3309928" y="4559498"/>
            <a:ext cx="25169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dirty="0">
                <a:solidFill>
                  <a:srgbClr val="4B9CD3"/>
                </a:solidFill>
              </a:rPr>
              <a:t>During Updates</a:t>
            </a:r>
            <a:endParaRPr lang="en-US" sz="834" dirty="0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81841" y="3957638"/>
            <a:ext cx="257175" cy="257175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6048356" y="4286250"/>
            <a:ext cx="252414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Real-Time</a:t>
            </a:r>
            <a:endParaRPr lang="en-US" sz="1397" dirty="0"/>
          </a:p>
        </p:txBody>
      </p:sp>
      <p:sp>
        <p:nvSpPr>
          <p:cNvPr id="44" name="Text 34"/>
          <p:cNvSpPr/>
          <p:nvPr/>
        </p:nvSpPr>
        <p:spPr>
          <a:xfrm>
            <a:off x="6048356" y="4559498"/>
            <a:ext cx="25241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dirty="0">
                <a:solidFill>
                  <a:srgbClr val="4B9CD3"/>
                </a:solidFill>
              </a:rPr>
              <a:t>Insight Availability</a:t>
            </a:r>
            <a:endParaRPr lang="en-US" sz="834" dirty="0"/>
          </a:p>
        </p:txBody>
      </p:sp>
      <p:sp>
        <p:nvSpPr>
          <p:cNvPr id="45" name="Text 10">
            <a:extLst>
              <a:ext uri="{FF2B5EF4-FFF2-40B4-BE49-F238E27FC236}">
                <a16:creationId xmlns:a16="http://schemas.microsoft.com/office/drawing/2014/main" id="{1B4CCF90-6355-2E29-07D8-28E24CB34F10}"/>
              </a:ext>
            </a:extLst>
          </p:cNvPr>
          <p:cNvSpPr/>
          <p:nvPr/>
        </p:nvSpPr>
        <p:spPr>
          <a:xfrm>
            <a:off x="513082" y="2550318"/>
            <a:ext cx="2667398" cy="2086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GOLD.GENRE_RELEASE_TIMING_PERFORMANCE</a:t>
            </a:r>
            <a:endParaRPr lang="en-US" sz="1050" dirty="0"/>
          </a:p>
        </p:txBody>
      </p:sp>
      <p:sp>
        <p:nvSpPr>
          <p:cNvPr id="46" name="Text 10">
            <a:extLst>
              <a:ext uri="{FF2B5EF4-FFF2-40B4-BE49-F238E27FC236}">
                <a16:creationId xmlns:a16="http://schemas.microsoft.com/office/drawing/2014/main" id="{BC1C442B-1597-8CDE-283A-7DB14CDC53B7}"/>
              </a:ext>
            </a:extLst>
          </p:cNvPr>
          <p:cNvSpPr/>
          <p:nvPr/>
        </p:nvSpPr>
        <p:spPr>
          <a:xfrm>
            <a:off x="513082" y="2838468"/>
            <a:ext cx="3003520" cy="208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GOLD.AUDIENCE_ENGAGEMENT_DECADE_SENTIMENT</a:t>
            </a:r>
            <a:endParaRPr lang="en-US" sz="105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F2A24EE8-7FDA-7A2C-B2D8-83F666DCDD49}"/>
              </a:ext>
            </a:extLst>
          </p:cNvPr>
          <p:cNvSpPr/>
          <p:nvPr/>
        </p:nvSpPr>
        <p:spPr>
          <a:xfrm>
            <a:off x="40248" y="3090591"/>
            <a:ext cx="3003520" cy="208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GOLD.POWER_DUOS_PERFORMANCE</a:t>
            </a:r>
            <a:endParaRPr lang="en-US" sz="1050" dirty="0"/>
          </a:p>
        </p:txBody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7DD8A5D2-640E-16DE-888B-86E177ED45C8}"/>
              </a:ext>
            </a:extLst>
          </p:cNvPr>
          <p:cNvSpPr/>
          <p:nvPr/>
        </p:nvSpPr>
        <p:spPr>
          <a:xfrm>
            <a:off x="3363411" y="2511388"/>
            <a:ext cx="965554" cy="206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272</a:t>
            </a:r>
            <a:endParaRPr lang="en-US" sz="987" dirty="0"/>
          </a:p>
        </p:txBody>
      </p:sp>
      <p:sp>
        <p:nvSpPr>
          <p:cNvPr id="49" name="Text 9">
            <a:extLst>
              <a:ext uri="{FF2B5EF4-FFF2-40B4-BE49-F238E27FC236}">
                <a16:creationId xmlns:a16="http://schemas.microsoft.com/office/drawing/2014/main" id="{B0DD8911-D7E0-4276-BAA8-0ADB5B5842A2}"/>
              </a:ext>
            </a:extLst>
          </p:cNvPr>
          <p:cNvSpPr/>
          <p:nvPr/>
        </p:nvSpPr>
        <p:spPr>
          <a:xfrm>
            <a:off x="3378772" y="2814067"/>
            <a:ext cx="965554" cy="206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188</a:t>
            </a:r>
            <a:endParaRPr lang="en-US" sz="987" dirty="0"/>
          </a:p>
        </p:txBody>
      </p:sp>
      <p:sp>
        <p:nvSpPr>
          <p:cNvPr id="50" name="Text 9">
            <a:extLst>
              <a:ext uri="{FF2B5EF4-FFF2-40B4-BE49-F238E27FC236}">
                <a16:creationId xmlns:a16="http://schemas.microsoft.com/office/drawing/2014/main" id="{73BDFD76-66F7-3A04-6646-036FDB069478}"/>
              </a:ext>
            </a:extLst>
          </p:cNvPr>
          <p:cNvSpPr/>
          <p:nvPr/>
        </p:nvSpPr>
        <p:spPr>
          <a:xfrm>
            <a:off x="3378772" y="3060260"/>
            <a:ext cx="965554" cy="206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4097</a:t>
            </a:r>
            <a:endParaRPr lang="en-US" sz="987" dirty="0"/>
          </a:p>
        </p:txBody>
      </p:sp>
      <p:sp>
        <p:nvSpPr>
          <p:cNvPr id="51" name="Text 10">
            <a:extLst>
              <a:ext uri="{FF2B5EF4-FFF2-40B4-BE49-F238E27FC236}">
                <a16:creationId xmlns:a16="http://schemas.microsoft.com/office/drawing/2014/main" id="{1F0ECB38-A863-7B5E-C7F7-BA73F44DD19C}"/>
              </a:ext>
            </a:extLst>
          </p:cNvPr>
          <p:cNvSpPr/>
          <p:nvPr/>
        </p:nvSpPr>
        <p:spPr>
          <a:xfrm>
            <a:off x="5963520" y="2530673"/>
            <a:ext cx="2667398" cy="2086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GOLD.GENRE_RELEASE_TIMING_PERFORMANCE</a:t>
            </a:r>
            <a:endParaRPr lang="en-US" sz="1050" dirty="0"/>
          </a:p>
        </p:txBody>
      </p:sp>
      <p:sp>
        <p:nvSpPr>
          <p:cNvPr id="52" name="Text 10">
            <a:extLst>
              <a:ext uri="{FF2B5EF4-FFF2-40B4-BE49-F238E27FC236}">
                <a16:creationId xmlns:a16="http://schemas.microsoft.com/office/drawing/2014/main" id="{693735C1-67EF-984F-D9C1-FEFD5943CB64}"/>
              </a:ext>
            </a:extLst>
          </p:cNvPr>
          <p:cNvSpPr/>
          <p:nvPr/>
        </p:nvSpPr>
        <p:spPr>
          <a:xfrm>
            <a:off x="5638654" y="2803357"/>
            <a:ext cx="3003520" cy="208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GOLD.AUDIENCE_ENGAGEMENT_DECADE_SENTIMENT</a:t>
            </a:r>
            <a:endParaRPr lang="en-US" sz="1050" dirty="0"/>
          </a:p>
        </p:txBody>
      </p:sp>
      <p:sp>
        <p:nvSpPr>
          <p:cNvPr id="53" name="Text 10">
            <a:extLst>
              <a:ext uri="{FF2B5EF4-FFF2-40B4-BE49-F238E27FC236}">
                <a16:creationId xmlns:a16="http://schemas.microsoft.com/office/drawing/2014/main" id="{1F73BB79-54FD-ED64-807D-38ACE2E94458}"/>
              </a:ext>
            </a:extLst>
          </p:cNvPr>
          <p:cNvSpPr/>
          <p:nvPr/>
        </p:nvSpPr>
        <p:spPr>
          <a:xfrm>
            <a:off x="6065470" y="3048164"/>
            <a:ext cx="3003520" cy="208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GOLD.POWER_DUOS_PERFORMANCE</a:t>
            </a:r>
            <a:endParaRPr lang="en-US" sz="1050" dirty="0"/>
          </a:p>
        </p:txBody>
      </p:sp>
      <p:sp>
        <p:nvSpPr>
          <p:cNvPr id="54" name="Text 9">
            <a:extLst>
              <a:ext uri="{FF2B5EF4-FFF2-40B4-BE49-F238E27FC236}">
                <a16:creationId xmlns:a16="http://schemas.microsoft.com/office/drawing/2014/main" id="{7FE0C63D-2ADF-9B1C-7EAD-E6DC4C4CE0D3}"/>
              </a:ext>
            </a:extLst>
          </p:cNvPr>
          <p:cNvSpPr/>
          <p:nvPr/>
        </p:nvSpPr>
        <p:spPr>
          <a:xfrm>
            <a:off x="4673100" y="2465115"/>
            <a:ext cx="965554" cy="206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278</a:t>
            </a:r>
            <a:endParaRPr lang="en-US" sz="987" dirty="0"/>
          </a:p>
        </p:txBody>
      </p:sp>
      <p:sp>
        <p:nvSpPr>
          <p:cNvPr id="55" name="Text 9">
            <a:extLst>
              <a:ext uri="{FF2B5EF4-FFF2-40B4-BE49-F238E27FC236}">
                <a16:creationId xmlns:a16="http://schemas.microsoft.com/office/drawing/2014/main" id="{AF1EF8F6-BA14-E618-B129-108B37F8A26D}"/>
              </a:ext>
            </a:extLst>
          </p:cNvPr>
          <p:cNvSpPr/>
          <p:nvPr/>
        </p:nvSpPr>
        <p:spPr>
          <a:xfrm>
            <a:off x="4695948" y="2774389"/>
            <a:ext cx="965554" cy="206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199</a:t>
            </a:r>
            <a:endParaRPr lang="en-US" sz="987" dirty="0"/>
          </a:p>
        </p:txBody>
      </p:sp>
      <p:sp>
        <p:nvSpPr>
          <p:cNvPr id="56" name="Text 9">
            <a:extLst>
              <a:ext uri="{FF2B5EF4-FFF2-40B4-BE49-F238E27FC236}">
                <a16:creationId xmlns:a16="http://schemas.microsoft.com/office/drawing/2014/main" id="{B2D82369-7753-61B4-DFBC-266C220D2BD3}"/>
              </a:ext>
            </a:extLst>
          </p:cNvPr>
          <p:cNvSpPr/>
          <p:nvPr/>
        </p:nvSpPr>
        <p:spPr>
          <a:xfrm>
            <a:off x="4695948" y="3046417"/>
            <a:ext cx="965554" cy="206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4110</a:t>
            </a:r>
            <a:endParaRPr lang="en-US" sz="987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16129EEE-03AF-BBBB-689D-734957248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79219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19AE18E5-18DB-D3DF-3F69-A9BD39972154}"/>
              </a:ext>
            </a:extLst>
          </p:cNvPr>
          <p:cNvSpPr/>
          <p:nvPr/>
        </p:nvSpPr>
        <p:spPr>
          <a:xfrm>
            <a:off x="3003564" y="2380481"/>
            <a:ext cx="4163143" cy="418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536022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2859</TotalTime>
  <Words>719</Words>
  <Application>Microsoft Office PowerPoint</Application>
  <PresentationFormat>On-screen Show (16:9)</PresentationFormat>
  <Paragraphs>173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Janani Vakkanti</cp:lastModifiedBy>
  <cp:revision>53</cp:revision>
  <dcterms:created xsi:type="dcterms:W3CDTF">2025-12-01T00:04:18Z</dcterms:created>
  <dcterms:modified xsi:type="dcterms:W3CDTF">2025-12-03T21:22:53Z</dcterms:modified>
</cp:coreProperties>
</file>